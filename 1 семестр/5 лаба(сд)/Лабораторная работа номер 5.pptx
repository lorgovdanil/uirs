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6.xml" ContentType="application/vnd.openxmlformats-officedocument.drawingml.chart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72" r:id="rId7"/>
    <p:sldId id="261" r:id="rId8"/>
    <p:sldId id="274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-1324" y="-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egorc\Downloads\YIR5_&#1044;&#1077;&#1081;&#1089;&#1090;&#1074;&#1080;&#1090;&#1077;&#1083;&#1100;&#1085;&#1086;_&#1087;&#1088;&#1077;&#1082;&#1088;&#1072;&#1089;&#1085;&#1072;&#1103;_&#1080;_&#1074;&#1086;&#1089;&#1093;&#1080;&#1090;&#1080;&#1090;&#1077;&#1083;&#1100;&#1085;&#1072;&#1103;_&#1088;&#1072;&#1073;&#1086;&#1090;&#1072;_&#1085;&#1072;_&#1082;&#1086;&#1090;&#1086;&#1088;&#1091;&#1102;.xlsx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egorc\Downloads\YIR5_&#1044;&#1077;&#1081;&#1089;&#1090;&#1074;&#1080;&#1090;&#1077;&#1083;&#1100;&#1085;&#1086;_&#1087;&#1088;&#1077;&#1082;&#1088;&#1072;&#1089;&#1085;&#1072;&#1103;_&#1080;_&#1074;&#1086;&#1089;&#1093;&#1080;&#1090;&#1080;&#1090;&#1077;&#1083;&#1100;&#1085;&#1072;&#1103;_&#1088;&#1072;&#1073;&#1086;&#1090;&#1072;_&#1085;&#1072;_&#1082;&#1086;&#1090;&#1086;&#1088;&#1091;&#1102;.xlsx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danil\Downloads\Telegram%20Desktop\YIR5_&#1044;&#1077;&#1081;&#1089;&#1090;&#1074;&#1080;&#1090;&#1077;&#1083;&#1100;&#1085;&#1086;_&#1087;&#1088;&#1077;&#1082;&#1088;&#1072;&#1089;&#1085;&#1072;&#1103;_&#1080;_&#1074;&#1086;&#1089;&#1093;&#1080;&#1090;&#1080;&#1090;&#1077;&#1083;&#1100;&#1085;&#1072;&#1103;_&#1088;&#1072;&#1073;&#1086;&#1090;&#1072;_&#1085;&#1072;_&#1082;&#1086;&#1090;&#1086;&#1088;&#1091;&#1102;%20(4).xlsx" TargetMode="Externa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danil\Downloads\Telegram%20Desktop\YIR5_&#1044;&#1077;&#1081;&#1089;&#1090;&#1074;&#1080;&#1090;&#1077;&#1083;&#1100;&#1085;&#1086;_&#1087;&#1088;&#1077;&#1082;&#1088;&#1072;&#1089;&#1085;&#1072;&#1103;_&#1080;_&#1074;&#1086;&#1089;&#1093;&#1080;&#1090;&#1080;&#1090;&#1077;&#1083;&#1100;&#1085;&#1072;&#1103;_&#1088;&#1072;&#1073;&#1086;&#1090;&#1072;_&#1085;&#1072;_&#1082;&#1086;&#1090;&#1086;&#1088;&#1091;&#1102;%20(4).xlsx" TargetMode="Externa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danil\Downloads\Telegram%20Desktop\YIR5_&#1044;&#1077;&#1081;&#1089;&#1090;&#1074;&#1080;&#1090;&#1077;&#1083;&#1100;&#1085;&#1086;_&#1087;&#1088;&#1077;&#1082;&#1088;&#1072;&#1089;&#1085;&#1072;&#1103;_&#1080;_&#1074;&#1086;&#1089;&#1093;&#1080;&#1090;&#1080;&#1090;&#1077;&#1083;&#1100;&#1085;&#1072;&#1103;_&#1088;&#1072;&#1073;&#1086;&#1090;&#1072;_&#1085;&#1072;_&#1082;&#1086;&#1090;&#1086;&#1088;&#1091;&#1102;%20(4).xlsx" TargetMode="External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danil\Downloads\Telegram%20Desktop\YIR5_&#1044;&#1077;&#1081;&#1089;&#1090;&#1074;&#1080;&#1090;&#1077;&#1083;&#1100;&#1085;&#1086;_&#1087;&#1088;&#1077;&#1082;&#1088;&#1072;&#1089;&#1085;&#1072;&#1103;_&#1080;_&#1074;&#1086;&#1089;&#1093;&#1080;&#1090;&#1080;&#1090;&#1077;&#1083;&#1100;&#1085;&#1072;&#1103;_&#1088;&#1072;&#1073;&#1086;&#1090;&#1072;_&#1085;&#1072;_&#1082;&#1086;&#1090;&#1086;&#1088;&#1091;&#1102;%20(4)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ru-RU"/>
  <c:chart>
    <c:autoTitleDeleted val="1"/>
    <c:plotArea>
      <c:layout>
        <c:manualLayout>
          <c:layoutTarget val="inner"/>
          <c:xMode val="edge"/>
          <c:yMode val="edge"/>
          <c:x val="8.842017998596198E-2"/>
          <c:y val="4.0680359241189505E-2"/>
          <c:w val="0.88851804423551228"/>
          <c:h val="0.80790574100997792"/>
        </c:manualLayout>
      </c:layout>
      <c:barChart>
        <c:barDir val="col"/>
        <c:grouping val="clustered"/>
        <c:ser>
          <c:idx val="0"/>
          <c:order val="0"/>
          <c:tx>
            <c:v>База Цит</c:v>
          </c:tx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/>
                </a:pPr>
                <a:endParaRPr lang="ru-RU"/>
              </a:p>
            </c:txPr>
            <c:dLblPos val="outEnd"/>
            <c:showVal val="1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'инф о журналах'!$U$11:$U$14</c:f>
              <c:strCache>
                <c:ptCount val="4"/>
                <c:pt idx="0">
                  <c:v>РИНЦ</c:v>
                </c:pt>
                <c:pt idx="1">
                  <c:v>ВАК</c:v>
                </c:pt>
                <c:pt idx="2">
                  <c:v>Scopus</c:v>
                </c:pt>
                <c:pt idx="3">
                  <c:v>WoS</c:v>
                </c:pt>
              </c:strCache>
            </c:strRef>
          </c:cat>
          <c:val>
            <c:numRef>
              <c:f>'инф о журналах'!$V$11:$V$14</c:f>
              <c:numCache>
                <c:formatCode>General</c:formatCode>
                <c:ptCount val="4"/>
                <c:pt idx="0">
                  <c:v>10</c:v>
                </c:pt>
                <c:pt idx="1">
                  <c:v>0</c:v>
                </c:pt>
                <c:pt idx="2">
                  <c:v>1</c:v>
                </c:pt>
                <c:pt idx="3">
                  <c:v>0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6467-4641-8D04-E9C36A90F731}"/>
            </c:ext>
          </c:extLst>
        </c:ser>
        <c:gapWidth val="219"/>
        <c:overlap val="-27"/>
        <c:axId val="106974208"/>
        <c:axId val="106873600"/>
      </c:barChart>
      <c:catAx>
        <c:axId val="106974208"/>
        <c:scaling>
          <c:orientation val="minMax"/>
        </c:scaling>
        <c:axPos val="b"/>
        <c:majorGridlines>
          <c:spPr>
            <a:ln w="9525" cap="flat" cmpd="sng" algn="ctr">
              <a:solidFill>
                <a:schemeClr val="bg1">
                  <a:lumMod val="50000"/>
                </a:schemeClr>
              </a:solidFill>
              <a:prstDash val="dash"/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r>
                  <a:rPr lang="ru-RU" sz="1400" b="1" baseline="0">
                    <a:solidFill>
                      <a:schemeClr val="tx1"/>
                    </a:solidFill>
                  </a:rPr>
                  <a:t>База цитирования</a:t>
                </a:r>
              </a:p>
            </c:rich>
          </c:tx>
          <c:layout>
            <c:manualLayout>
              <c:xMode val="edge"/>
              <c:yMode val="edge"/>
              <c:x val="0.41418005036546557"/>
              <c:y val="0.91863928151762098"/>
            </c:manualLayout>
          </c:layout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tickLblPos val="nextTo"/>
        <c:spPr>
          <a:noFill/>
          <a:ln w="12700" cap="flat" cmpd="sng" algn="ctr">
            <a:solidFill>
              <a:schemeClr val="tx1">
                <a:lumMod val="95000"/>
                <a:lumOff val="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RU"/>
          </a:p>
        </c:txPr>
        <c:crossAx val="106873600"/>
        <c:crossesAt val="0"/>
        <c:auto val="1"/>
        <c:lblAlgn val="ctr"/>
        <c:lblOffset val="100"/>
      </c:catAx>
      <c:valAx>
        <c:axId val="106873600"/>
        <c:scaling>
          <c:orientation val="minMax"/>
          <c:max val="12"/>
        </c:scaling>
        <c:axPos val="l"/>
        <c:majorGridlines>
          <c:spPr>
            <a:ln w="9525" cap="flat" cmpd="sng" algn="ctr">
              <a:solidFill>
                <a:schemeClr val="bg1">
                  <a:lumMod val="50000"/>
                </a:schemeClr>
              </a:solidFill>
              <a:prstDash val="dash"/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r>
                  <a:rPr lang="ru-RU" sz="1400" b="1" baseline="0" dirty="0">
                    <a:solidFill>
                      <a:schemeClr val="tx1"/>
                    </a:solidFill>
                  </a:rPr>
                  <a:t>Количество публикаций</a:t>
                </a:r>
              </a:p>
            </c:rich>
          </c:tx>
          <c:layout>
            <c:manualLayout>
              <c:xMode val="edge"/>
              <c:yMode val="edge"/>
              <c:x val="4.6123551557051201E-3"/>
              <c:y val="0.19592210978110056"/>
            </c:manualLayout>
          </c:layout>
          <c:spPr>
            <a:noFill/>
            <a:ln>
              <a:noFill/>
            </a:ln>
            <a:effectLst/>
          </c:spPr>
        </c:title>
        <c:numFmt formatCode="General" sourceLinked="1"/>
        <c:tickLblPos val="nextTo"/>
        <c:spPr>
          <a:noFill/>
          <a:ln w="12700">
            <a:solidFill>
              <a:schemeClr val="tx1">
                <a:lumMod val="95000"/>
                <a:lumOff val="5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RU"/>
          </a:p>
        </c:txPr>
        <c:crossAx val="106974208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gap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sz="1050" b="0">
          <a:latin typeface="Times New Roman" panose="02020603050405020304" pitchFamily="18" charset="0"/>
          <a:cs typeface="Times New Roman" panose="02020603050405020304" pitchFamily="18" charset="0"/>
        </a:defRPr>
      </a:pPr>
      <a:endParaRPr lang="ru-RU"/>
    </a:p>
  </c:txPr>
  <c:externalData r:id="rId1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ru-RU"/>
  <c:chart>
    <c:autoTitleDeleted val="1"/>
    <c:plotArea>
      <c:layout>
        <c:manualLayout>
          <c:layoutTarget val="inner"/>
          <c:xMode val="edge"/>
          <c:yMode val="edge"/>
          <c:x val="7.8501715500788063E-2"/>
          <c:y val="4.6637663990368658E-2"/>
          <c:w val="0.90530648009676529"/>
          <c:h val="0.81679198911768602"/>
        </c:manualLayout>
      </c:layout>
      <c:barChart>
        <c:barDir val="col"/>
        <c:grouping val="clustered"/>
        <c:ser>
          <c:idx val="0"/>
          <c:order val="0"/>
          <c:tx>
            <c:strRef>
              <c:f>'[1]инф о конференциях'!$M$2:$P$2</c:f>
              <c:strCache>
                <c:ptCount val="1"/>
                <c:pt idx="0">
                  <c:v>1 2 2 3</c:v>
                </c:pt>
              </c:strCache>
            </c:strRef>
          </c:tx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>
                    <a:latin typeface="Times New Roman" pitchFamily="18" charset="0"/>
                    <a:cs typeface="Times New Roman" pitchFamily="18" charset="0"/>
                  </a:defRPr>
                </a:pPr>
                <a:endParaRPr lang="ru-RU"/>
              </a:p>
            </c:txPr>
            <c:dLblPos val="outEnd"/>
            <c:showVal val="1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'[YIR5_Действительно_прекрасная_и_восхитительная_работа_на_которую.xlsx]инф о конференциях'!$E$8,'[YIR5_Действительно_прекрасная_и_восхитительная_работа_на_которую.xlsx]инф о конференциях'!$E$4,'[YIR5_Действительно_прекрасная_и_восхитительная_работа_на_которую.xlsx]инф о конференциях'!$E$11,'[YIR5_Действительно_прекрасная_и_восхитительная_работа_на_которую.xlsx]инф о конференциях'!$E$10</c:f>
              <c:numCache>
                <c:formatCode>General</c:formatCode>
                <c:ptCount val="4"/>
                <c:pt idx="0">
                  <c:v>2018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</c:numCache>
            </c:numRef>
          </c:cat>
          <c:val>
            <c:numRef>
              <c:f>'[1]инф о конференциях'!$M$2:$P$2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2</c:v>
                </c:pt>
                <c:pt idx="3">
                  <c:v>3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6898-4EAE-93C1-E47FAA6736F3}"/>
            </c:ext>
          </c:extLst>
        </c:ser>
        <c:axId val="93062272"/>
        <c:axId val="101616640"/>
      </c:barChart>
      <c:catAx>
        <c:axId val="93062272"/>
        <c:scaling>
          <c:orientation val="minMax"/>
        </c:scaling>
        <c:axPos val="b"/>
        <c:majorGridlines>
          <c:spPr>
            <a:ln>
              <a:solidFill>
                <a:sysClr val="windowText" lastClr="000000"/>
              </a:solidFill>
              <a:prstDash val="dash"/>
            </a:ln>
          </c:spPr>
        </c:majorGridlines>
        <c:title>
          <c:tx>
            <c:rich>
              <a:bodyPr/>
              <a:lstStyle/>
              <a:p>
                <a:pPr>
                  <a:defRPr sz="1200" b="1"/>
                </a:pPr>
                <a:r>
                  <a:rPr lang="ru-RU" sz="12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Год</a:t>
                </a:r>
              </a:p>
            </c:rich>
          </c:tx>
          <c:layout/>
        </c:title>
        <c:numFmt formatCode="General" sourceLinked="1"/>
        <c:tickLblPos val="nextTo"/>
        <c:spPr>
          <a:noFill/>
          <a:ln w="12700">
            <a:solidFill>
              <a:sysClr val="windowText" lastClr="000000"/>
            </a:solidFill>
          </a:ln>
        </c:spPr>
        <c:txPr>
          <a:bodyPr/>
          <a:lstStyle/>
          <a:p>
            <a:pPr>
              <a:defRPr sz="1400"/>
            </a:pPr>
            <a:endParaRPr lang="ru-RU"/>
          </a:p>
        </c:txPr>
        <c:crossAx val="101616640"/>
        <c:crosses val="autoZero"/>
        <c:auto val="1"/>
        <c:lblAlgn val="ctr"/>
        <c:lblOffset val="100"/>
      </c:catAx>
      <c:valAx>
        <c:axId val="101616640"/>
        <c:scaling>
          <c:orientation val="minMax"/>
          <c:max val="4"/>
          <c:min val="0"/>
        </c:scaling>
        <c:axPos val="l"/>
        <c:majorGridlines>
          <c:spPr>
            <a:ln w="9525" cmpd="sng">
              <a:solidFill>
                <a:sysClr val="windowText" lastClr="000000"/>
              </a:solidFill>
              <a:prstDash val="dash"/>
            </a:ln>
          </c:spPr>
        </c:majorGridlines>
        <c:title>
          <c:tx>
            <c:rich>
              <a:bodyPr/>
              <a:lstStyle/>
              <a:p>
                <a:pPr>
                  <a:defRPr sz="1200" b="1"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pPr>
                <a:r>
                  <a:rPr lang="ru-RU" sz="12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Количество конференций</a:t>
                </a:r>
              </a:p>
            </c:rich>
          </c:tx>
          <c:layout>
            <c:manualLayout>
              <c:xMode val="edge"/>
              <c:yMode val="edge"/>
              <c:x val="1.5272210530493796E-3"/>
              <c:y val="0.20842908730130719"/>
            </c:manualLayout>
          </c:layout>
        </c:title>
        <c:numFmt formatCode="General" sourceLinked="1"/>
        <c:tickLblPos val="nextTo"/>
        <c:spPr>
          <a:ln w="12700">
            <a:solidFill>
              <a:sysClr val="windowText" lastClr="000000"/>
            </a:solidFill>
          </a:ln>
        </c:spPr>
        <c:txPr>
          <a:bodyPr/>
          <a:lstStyle/>
          <a:p>
            <a:pPr>
              <a:defRPr sz="1400"/>
            </a:pPr>
            <a:endParaRPr lang="ru-RU"/>
          </a:p>
        </c:txPr>
        <c:crossAx val="93062272"/>
        <c:crosses val="autoZero"/>
        <c:crossBetween val="between"/>
        <c:majorUnit val="1"/>
      </c:valAx>
    </c:plotArea>
    <c:plotVisOnly val="1"/>
    <c:dispBlanksAs val="gap"/>
  </c:chart>
  <c:spPr>
    <a:ln>
      <a:noFill/>
    </a:ln>
  </c:spPr>
  <c:externalData r:id="rId1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ru-RU"/>
  <c:chart>
    <c:autoTitleDeleted val="1"/>
    <c:plotArea>
      <c:layout>
        <c:manualLayout>
          <c:layoutTarget val="inner"/>
          <c:xMode val="edge"/>
          <c:yMode val="edge"/>
          <c:x val="8.8211756809678479E-2"/>
          <c:y val="4.195033651054967E-2"/>
          <c:w val="0.88940837976609277"/>
          <c:h val="0.8824275222033644"/>
        </c:manualLayout>
      </c:layout>
      <c:barChart>
        <c:barDir val="col"/>
        <c:grouping val="clustered"/>
        <c:ser>
          <c:idx val="0"/>
          <c:order val="0"/>
          <c:dLbls>
            <c:showVal val="1"/>
          </c:dLbls>
          <c:cat>
            <c:strRef>
              <c:f>'[2]инф о конференциях'!$H$2:$L$2</c:f>
              <c:strCache>
                <c:ptCount val="5"/>
                <c:pt idx="0">
                  <c:v>Анкара</c:v>
                </c:pt>
                <c:pt idx="1">
                  <c:v>Стамбул</c:v>
                </c:pt>
                <c:pt idx="2">
                  <c:v>Славское</c:v>
                </c:pt>
                <c:pt idx="3">
                  <c:v>Харьков</c:v>
                </c:pt>
                <c:pt idx="4">
                  <c:v>Нью-йорк</c:v>
                </c:pt>
              </c:strCache>
            </c:strRef>
          </c:cat>
          <c:val>
            <c:numRef>
              <c:f>'[2]инф о конференциях'!$H$3:$L$3</c:f>
              <c:numCache>
                <c:formatCode>General</c:formatCode>
                <c:ptCount val="5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3</c:v>
                </c:pt>
                <c:pt idx="4">
                  <c:v>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7C14-47F6-8D33-959068592984}"/>
            </c:ext>
          </c:extLst>
        </c:ser>
        <c:axId val="107072512"/>
        <c:axId val="107090688"/>
      </c:barChart>
      <c:catAx>
        <c:axId val="107072512"/>
        <c:scaling>
          <c:orientation val="minMax"/>
        </c:scaling>
        <c:axPos val="b"/>
        <c:majorGridlines>
          <c:spPr>
            <a:ln>
              <a:solidFill>
                <a:sysClr val="windowText" lastClr="000000"/>
              </a:solidFill>
              <a:prstDash val="dash"/>
            </a:ln>
          </c:spPr>
        </c:majorGridlines>
        <c:numFmt formatCode="General" sourceLinked="0"/>
        <c:tickLblPos val="nextTo"/>
        <c:spPr>
          <a:ln w="12700">
            <a:solidFill>
              <a:sysClr val="windowText" lastClr="000000"/>
            </a:solidFill>
          </a:ln>
        </c:spPr>
        <c:crossAx val="107090688"/>
        <c:crosses val="autoZero"/>
        <c:auto val="1"/>
        <c:lblAlgn val="ctr"/>
        <c:lblOffset val="100"/>
      </c:catAx>
      <c:valAx>
        <c:axId val="107090688"/>
        <c:scaling>
          <c:orientation val="minMax"/>
          <c:max val="4"/>
          <c:min val="0"/>
        </c:scaling>
        <c:axPos val="l"/>
        <c:majorGridlines>
          <c:spPr>
            <a:ln>
              <a:solidFill>
                <a:sysClr val="windowText" lastClr="000000"/>
              </a:solidFill>
              <a:prstDash val="dash"/>
            </a:ln>
          </c:spPr>
        </c:majorGridlines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ru-RU" dirty="0" smtClean="0"/>
                  <a:t>Количество</a:t>
                </a:r>
                <a:r>
                  <a:rPr lang="ru-RU" baseline="0" dirty="0" smtClean="0"/>
                  <a:t> конференций</a:t>
                </a:r>
                <a:endParaRPr lang="ru-RU" dirty="0"/>
              </a:p>
            </c:rich>
          </c:tx>
          <c:layout>
            <c:manualLayout>
              <c:xMode val="edge"/>
              <c:yMode val="edge"/>
              <c:x val="1.364272378202991E-2"/>
              <c:y val="0.20972558485580595"/>
            </c:manualLayout>
          </c:layout>
        </c:title>
        <c:numFmt formatCode="General" sourceLinked="1"/>
        <c:tickLblPos val="nextTo"/>
        <c:spPr>
          <a:ln w="12700">
            <a:solidFill>
              <a:schemeClr val="tx1"/>
            </a:solidFill>
          </a:ln>
        </c:spPr>
        <c:crossAx val="107072512"/>
        <c:crosses val="autoZero"/>
        <c:crossBetween val="between"/>
        <c:majorUnit val="1"/>
      </c:valAx>
    </c:plotArea>
    <c:plotVisOnly val="1"/>
    <c:dispBlanksAs val="gap"/>
  </c:chart>
  <c:spPr>
    <a:ln>
      <a:noFill/>
    </a:ln>
  </c:spPr>
  <c:txPr>
    <a:bodyPr/>
    <a:lstStyle/>
    <a:p>
      <a:pPr>
        <a:defRPr sz="1400" b="1">
          <a:latin typeface="Times New Roman" pitchFamily="18" charset="0"/>
          <a:cs typeface="Times New Roman" pitchFamily="18" charset="0"/>
        </a:defRPr>
      </a:pPr>
      <a:endParaRPr lang="ru-RU"/>
    </a:p>
  </c:txPr>
  <c:externalData r:id="rId1"/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ru-RU"/>
  <c:chart>
    <c:autoTitleDeleted val="1"/>
    <c:plotArea>
      <c:layout>
        <c:manualLayout>
          <c:layoutTarget val="inner"/>
          <c:xMode val="edge"/>
          <c:yMode val="edge"/>
          <c:x val="0.14346783401850319"/>
          <c:y val="6.4737091924458853E-2"/>
          <c:w val="0.80663973916082188"/>
          <c:h val="0.75439718246765941"/>
        </c:manualLayout>
      </c:layout>
      <c:barChart>
        <c:barDir val="col"/>
        <c:grouping val="clustered"/>
        <c:ser>
          <c:idx val="0"/>
          <c:order val="0"/>
          <c:tx>
            <c:strRef>
              <c:f>'подбор статей'!$AS$1</c:f>
              <c:strCache>
                <c:ptCount val="1"/>
                <c:pt idx="0">
                  <c:v>Кол-во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dLbls>
            <c:dLbl>
              <c:idx val="0"/>
              <c:layout>
                <c:manualLayout>
                  <c:x val="0"/>
                  <c:y val="1.9372695837743249E-2"/>
                </c:manualLayout>
              </c:layout>
              <c:dLblPos val="outEnd"/>
              <c:showVal val="1"/>
            </c:dLbl>
            <c:dLbl>
              <c:idx val="2"/>
              <c:layout>
                <c:manualLayout>
                  <c:x val="0"/>
                  <c:y val="1.6143913198119381E-2"/>
                </c:manualLayout>
              </c:layout>
              <c:dLblPos val="outEnd"/>
              <c:showVal val="1"/>
            </c:dLbl>
            <c:dLblPos val="outEnd"/>
            <c:showVal val="1"/>
          </c:dLbls>
          <c:cat>
            <c:strRef>
              <c:f>'подбор статей'!$AR$3:$AR$5</c:f>
              <c:strCache>
                <c:ptCount val="3"/>
                <c:pt idx="0">
                  <c:v>BAK</c:v>
                </c:pt>
                <c:pt idx="1">
                  <c:v>WoS</c:v>
                </c:pt>
                <c:pt idx="2">
                  <c:v>Scopus</c:v>
                </c:pt>
              </c:strCache>
            </c:strRef>
          </c:cat>
          <c:val>
            <c:numRef>
              <c:f>'подбор статей'!$AS$3:$AS$5</c:f>
              <c:numCache>
                <c:formatCode>General</c:formatCode>
                <c:ptCount val="3"/>
                <c:pt idx="0">
                  <c:v>14</c:v>
                </c:pt>
                <c:pt idx="1">
                  <c:v>1</c:v>
                </c:pt>
                <c:pt idx="2">
                  <c:v>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DD31-4AAC-B965-E0911520AED6}"/>
            </c:ext>
          </c:extLst>
        </c:ser>
        <c:dLbls>
          <c:showVal val="1"/>
        </c:dLbls>
        <c:gapWidth val="219"/>
        <c:overlap val="-27"/>
        <c:axId val="107144704"/>
        <c:axId val="107146624"/>
      </c:barChart>
      <c:catAx>
        <c:axId val="107144704"/>
        <c:scaling>
          <c:orientation val="minMax"/>
        </c:scaling>
        <c:axPos val="b"/>
        <c:majorGridlines>
          <c:spPr>
            <a:ln w="9525" cap="flat" cmpd="sng" algn="ctr">
              <a:solidFill>
                <a:schemeClr val="bg1">
                  <a:lumMod val="50000"/>
                </a:schemeClr>
              </a:solidFill>
              <a:prstDash val="dash"/>
              <a:round/>
            </a:ln>
            <a:effectLst/>
          </c:spPr>
        </c:majorGridlines>
        <c:title>
          <c:tx>
            <c:rich>
              <a:bodyPr rot="0" vert="horz"/>
              <a:lstStyle/>
              <a:p>
                <a:pPr>
                  <a:defRPr/>
                </a:pPr>
                <a:r>
                  <a:rPr lang="ru-RU"/>
                  <a:t>База цитирования</a:t>
                </a:r>
              </a:p>
            </c:rich>
          </c:tx>
          <c:layout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tickLblPos val="nextTo"/>
        <c:spPr>
          <a:noFill/>
          <a:ln w="12700" cap="flat" cmpd="sng" algn="ctr">
            <a:solidFill>
              <a:schemeClr val="tx1">
                <a:lumMod val="95000"/>
                <a:lumOff val="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/>
            </a:pPr>
            <a:endParaRPr lang="ru-RU"/>
          </a:p>
        </c:txPr>
        <c:crossAx val="107146624"/>
        <c:crosses val="autoZero"/>
        <c:auto val="1"/>
        <c:lblAlgn val="ctr"/>
        <c:lblOffset val="100"/>
      </c:catAx>
      <c:valAx>
        <c:axId val="107146624"/>
        <c:scaling>
          <c:orientation val="minMax"/>
        </c:scaling>
        <c:axPos val="l"/>
        <c:majorGridlines>
          <c:spPr>
            <a:ln w="9525" cap="flat" cmpd="sng" algn="ctr">
              <a:solidFill>
                <a:schemeClr val="bg1">
                  <a:lumMod val="50000"/>
                </a:schemeClr>
              </a:solidFill>
              <a:prstDash val="dash"/>
              <a:round/>
            </a:ln>
            <a:effectLst/>
          </c:spPr>
        </c:majorGridlines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ru-RU"/>
                  <a:t>Количество публикаций</a:t>
                </a:r>
              </a:p>
            </c:rich>
          </c:tx>
          <c:layout/>
          <c:spPr>
            <a:noFill/>
            <a:ln>
              <a:noFill/>
            </a:ln>
            <a:effectLst/>
          </c:spPr>
        </c:title>
        <c:numFmt formatCode="General" sourceLinked="1"/>
        <c:tickLblPos val="nextTo"/>
        <c:spPr>
          <a:noFill/>
          <a:ln w="12700">
            <a:solidFill>
              <a:schemeClr val="tx1">
                <a:lumMod val="95000"/>
                <a:lumOff val="5000"/>
              </a:schemeClr>
            </a:solidFill>
          </a:ln>
          <a:effectLst/>
        </c:spPr>
        <c:txPr>
          <a:bodyPr rot="-60000000" vert="horz"/>
          <a:lstStyle/>
          <a:p>
            <a:pPr>
              <a:defRPr/>
            </a:pPr>
            <a:endParaRPr lang="ru-RU"/>
          </a:p>
        </c:txPr>
        <c:crossAx val="1071447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sz="1400" b="1">
          <a:latin typeface="Times New Roman" panose="02020603050405020304" pitchFamily="18" charset="0"/>
          <a:cs typeface="Times New Roman" panose="02020603050405020304" pitchFamily="18" charset="0"/>
        </a:defRPr>
      </a:pPr>
      <a:endParaRPr lang="ru-RU"/>
    </a:p>
  </c:txPr>
  <c:externalData r:id="rId1"/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ru-RU"/>
  <c:chart>
    <c:autoTitleDeleted val="1"/>
    <c:plotArea>
      <c:layout>
        <c:manualLayout>
          <c:layoutTarget val="inner"/>
          <c:xMode val="edge"/>
          <c:yMode val="edge"/>
          <c:x val="0.10111727291246972"/>
          <c:y val="7.1830192296715639E-2"/>
          <c:w val="0.85577672649901626"/>
          <c:h val="0.74871061974614184"/>
        </c:manualLayout>
      </c:layout>
      <c:barChart>
        <c:barDir val="col"/>
        <c:grouping val="clustered"/>
        <c:ser>
          <c:idx val="0"/>
          <c:order val="0"/>
          <c:tx>
            <c:strRef>
              <c:f>'подбор статей'!$Q$2:$Q$6</c:f>
              <c:strCache>
                <c:ptCount val="1"/>
                <c:pt idx="0">
                  <c:v>2018 2019 2020 2021 2022</c:v>
                </c:pt>
              </c:strCache>
            </c:strRef>
          </c:tx>
          <c:cat>
            <c:numRef>
              <c:f>'подбор статей'!$Q$2:$Q$6</c:f>
              <c:numCache>
                <c:formatCode>General</c:formatCode>
                <c:ptCount val="5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</c:numCache>
            </c:numRef>
          </c:cat>
          <c:val>
            <c:numRef>
              <c:f>'подбор статей'!$R$2:$R$6</c:f>
              <c:numCache>
                <c:formatCode>General</c:formatCode>
                <c:ptCount val="5"/>
                <c:pt idx="0">
                  <c:v>7</c:v>
                </c:pt>
                <c:pt idx="1">
                  <c:v>4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1035-4247-AADA-0DF0BA4DA8EA}"/>
            </c:ext>
          </c:extLst>
        </c:ser>
        <c:dLbls>
          <c:showVal val="1"/>
        </c:dLbls>
        <c:gapWidth val="219"/>
        <c:overlap val="-27"/>
        <c:axId val="108916736"/>
        <c:axId val="108918656"/>
      </c:barChart>
      <c:catAx>
        <c:axId val="108916736"/>
        <c:scaling>
          <c:orientation val="minMax"/>
        </c:scaling>
        <c:axPos val="b"/>
        <c:majorGridlines>
          <c:spPr>
            <a:ln w="9525" cap="flat" cmpd="sng" algn="ctr">
              <a:solidFill>
                <a:schemeClr val="bg1">
                  <a:lumMod val="50000"/>
                </a:schemeClr>
              </a:solidFill>
              <a:prstDash val="dash"/>
              <a:round/>
            </a:ln>
            <a:effectLst/>
          </c:spPr>
        </c:majorGridlines>
        <c:title>
          <c:tx>
            <c:rich>
              <a:bodyPr rot="0" vert="horz"/>
              <a:lstStyle/>
              <a:p>
                <a:pPr>
                  <a:defRPr/>
                </a:pPr>
                <a:r>
                  <a:rPr lang="ru-RU"/>
                  <a:t>Год публикации</a:t>
                </a:r>
              </a:p>
            </c:rich>
          </c:tx>
          <c:layout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tickLblPos val="nextTo"/>
        <c:spPr>
          <a:noFill/>
          <a:ln w="12700" cap="flat" cmpd="sng" algn="ctr">
            <a:solidFill>
              <a:schemeClr val="tx1">
                <a:lumMod val="95000"/>
                <a:lumOff val="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/>
            </a:pPr>
            <a:endParaRPr lang="ru-RU"/>
          </a:p>
        </c:txPr>
        <c:crossAx val="108918656"/>
        <c:crosses val="autoZero"/>
        <c:auto val="1"/>
        <c:lblAlgn val="ctr"/>
        <c:lblOffset val="100"/>
      </c:catAx>
      <c:valAx>
        <c:axId val="108918656"/>
        <c:scaling>
          <c:orientation val="minMax"/>
          <c:max val="8"/>
        </c:scaling>
        <c:axPos val="l"/>
        <c:majorGridlines>
          <c:spPr>
            <a:ln w="9525" cap="flat" cmpd="sng" algn="ctr">
              <a:solidFill>
                <a:schemeClr val="bg1">
                  <a:lumMod val="50000"/>
                </a:schemeClr>
              </a:solidFill>
              <a:prstDash val="dash"/>
              <a:round/>
            </a:ln>
            <a:effectLst/>
          </c:spPr>
        </c:majorGridlines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ru-RU"/>
                  <a:t>Количество изданных публикаций</a:t>
                </a:r>
              </a:p>
            </c:rich>
          </c:tx>
          <c:layout>
            <c:manualLayout>
              <c:xMode val="edge"/>
              <c:yMode val="edge"/>
              <c:x val="1.1343659099999473E-2"/>
              <c:y val="0.18653899458359144"/>
            </c:manualLayout>
          </c:layout>
          <c:spPr>
            <a:noFill/>
            <a:ln>
              <a:noFill/>
            </a:ln>
            <a:effectLst/>
          </c:spPr>
        </c:title>
        <c:numFmt formatCode="General" sourceLinked="1"/>
        <c:tickLblPos val="nextTo"/>
        <c:spPr>
          <a:noFill/>
          <a:ln w="12700">
            <a:solidFill>
              <a:schemeClr val="tx1">
                <a:lumMod val="95000"/>
                <a:lumOff val="5000"/>
              </a:schemeClr>
            </a:solidFill>
          </a:ln>
          <a:effectLst/>
        </c:spPr>
        <c:txPr>
          <a:bodyPr rot="-60000000" vert="horz"/>
          <a:lstStyle/>
          <a:p>
            <a:pPr>
              <a:defRPr/>
            </a:pPr>
            <a:endParaRPr lang="ru-RU"/>
          </a:p>
        </c:txPr>
        <c:crossAx val="108916736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gap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sz="1400" b="1">
          <a:latin typeface="Times New Roman" panose="02020603050405020304" pitchFamily="18" charset="0"/>
          <a:cs typeface="Times New Roman" panose="02020603050405020304" pitchFamily="18" charset="0"/>
        </a:defRPr>
      </a:pPr>
      <a:endParaRPr lang="ru-RU"/>
    </a:p>
  </c:txPr>
  <c:externalData r:id="rId1"/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ru-RU"/>
  <c:chart>
    <c:autoTitleDeleted val="1"/>
    <c:plotArea>
      <c:layout/>
      <c:barChart>
        <c:barDir val="col"/>
        <c:grouping val="clustered"/>
        <c:ser>
          <c:idx val="0"/>
          <c:order val="0"/>
          <c:tx>
            <c:strRef>
              <c:f>'подбор статей'!$AD$1</c:f>
              <c:strCache>
                <c:ptCount val="1"/>
                <c:pt idx="0">
                  <c:v>Кол-во</c:v>
                </c:pt>
              </c:strCache>
            </c:strRef>
          </c:tx>
          <c:cat>
            <c:strRef>
              <c:f>'подбор статей'!$AC$2:$AC$14</c:f>
              <c:strCache>
                <c:ptCount val="13"/>
                <c:pt idx="0">
                  <c:v>Н.В. Суханова</c:v>
                </c:pt>
                <c:pt idx="1">
                  <c:v>В.Б. Вечеркин</c:v>
                </c:pt>
                <c:pt idx="2">
                  <c:v>Логунова О. С.</c:v>
                </c:pt>
                <c:pt idx="3">
                  <c:v>И.С. Полевщиков</c:v>
                </c:pt>
                <c:pt idx="4">
                  <c:v>Легков К. Е.</c:v>
                </c:pt>
                <c:pt idx="5">
                  <c:v>Алексеев С. А.</c:v>
                </c:pt>
                <c:pt idx="6">
                  <c:v>Луков Д.К</c:v>
                </c:pt>
                <c:pt idx="7">
                  <c:v>Е.В. Ефромеева</c:v>
                </c:pt>
                <c:pt idx="8">
                  <c:v>Ю. Б. Попова</c:v>
                </c:pt>
                <c:pt idx="9">
                  <c:v>Е.В. Лощенко</c:v>
                </c:pt>
                <c:pt idx="10">
                  <c:v>ДОЛЖЕНКО В.И.
</c:v>
                </c:pt>
                <c:pt idx="11">
                  <c:v>Э. М. Львович</c:v>
                </c:pt>
                <c:pt idx="12">
                  <c:v>Нуйкин Д. А.</c:v>
                </c:pt>
              </c:strCache>
            </c:strRef>
          </c:cat>
          <c:val>
            <c:numRef>
              <c:f>'подбор статей'!$AD$2:$AD$14</c:f>
              <c:numCache>
                <c:formatCode>General</c:formatCode>
                <c:ptCount val="13"/>
                <c:pt idx="0">
                  <c:v>2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1035-4247-AADA-0DF0BA4DA8EA}"/>
            </c:ext>
          </c:extLst>
        </c:ser>
        <c:dLbls>
          <c:showVal val="1"/>
        </c:dLbls>
        <c:gapWidth val="219"/>
        <c:overlap val="-27"/>
        <c:axId val="108960000"/>
        <c:axId val="108965888"/>
      </c:barChart>
      <c:catAx>
        <c:axId val="108960000"/>
        <c:scaling>
          <c:orientation val="minMax"/>
        </c:scaling>
        <c:axPos val="b"/>
        <c:majorGridlines>
          <c:spPr>
            <a:ln w="9525" cap="flat" cmpd="sng" algn="ctr">
              <a:solidFill>
                <a:schemeClr val="bg1">
                  <a:lumMod val="50000"/>
                </a:schemeClr>
              </a:solidFill>
              <a:prstDash val="dash"/>
              <a:round/>
            </a:ln>
            <a:effectLst/>
          </c:spPr>
        </c:majorGridlines>
        <c:numFmt formatCode="General" sourceLinked="1"/>
        <c:majorTickMark val="none"/>
        <c:tickLblPos val="nextTo"/>
        <c:spPr>
          <a:noFill/>
          <a:ln w="12700" cap="flat" cmpd="sng" algn="ctr">
            <a:solidFill>
              <a:schemeClr val="tx1">
                <a:lumMod val="95000"/>
                <a:lumOff val="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/>
            </a:pPr>
            <a:endParaRPr lang="ru-RU"/>
          </a:p>
        </c:txPr>
        <c:crossAx val="108965888"/>
        <c:crosses val="autoZero"/>
        <c:auto val="1"/>
        <c:lblAlgn val="ctr"/>
        <c:lblOffset val="100"/>
      </c:catAx>
      <c:valAx>
        <c:axId val="108965888"/>
        <c:scaling>
          <c:orientation val="minMax"/>
          <c:max val="3"/>
        </c:scaling>
        <c:axPos val="l"/>
        <c:majorGridlines>
          <c:spPr>
            <a:ln w="9525" cap="flat" cmpd="sng" algn="ctr">
              <a:solidFill>
                <a:schemeClr val="bg1">
                  <a:lumMod val="50000"/>
                </a:schemeClr>
              </a:solidFill>
              <a:prstDash val="dash"/>
              <a:round/>
            </a:ln>
            <a:effectLst/>
          </c:spPr>
        </c:majorGridlines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ru-RU"/>
                  <a:t>Количество публиций</a:t>
                </a:r>
              </a:p>
            </c:rich>
          </c:tx>
          <c:layout/>
          <c:spPr>
            <a:noFill/>
            <a:ln>
              <a:noFill/>
            </a:ln>
            <a:effectLst/>
          </c:spPr>
        </c:title>
        <c:numFmt formatCode="General" sourceLinked="1"/>
        <c:tickLblPos val="nextTo"/>
        <c:spPr>
          <a:noFill/>
          <a:ln w="12700">
            <a:solidFill>
              <a:schemeClr val="tx1">
                <a:lumMod val="95000"/>
                <a:lumOff val="5000"/>
              </a:schemeClr>
            </a:solidFill>
          </a:ln>
          <a:effectLst/>
        </c:spPr>
        <c:txPr>
          <a:bodyPr rot="-60000000" vert="horz"/>
          <a:lstStyle/>
          <a:p>
            <a:pPr>
              <a:defRPr/>
            </a:pPr>
            <a:endParaRPr lang="ru-RU"/>
          </a:p>
        </c:txPr>
        <c:crossAx val="108960000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gap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sz="1400" b="1">
          <a:latin typeface="Times New Roman" panose="02020603050405020304" pitchFamily="18" charset="0"/>
          <a:cs typeface="Times New Roman" panose="02020603050405020304" pitchFamily="18" charset="0"/>
        </a:defRPr>
      </a:pPr>
      <a:endParaRPr lang="ru-RU"/>
    </a:p>
  </c:txPr>
  <c:externalData r:id="rId1"/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1ef4baf52f0_3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1ef4baf52f0_3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g1ef4baf52f0_3_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t>13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1ef4baf52f0_3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1ef4baf52f0_3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g1ef4baf52f0_3_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t>14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1ef4baf52f0_3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1ef4baf52f0_3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g1ef4baf52f0_3_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t>15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1ef4baf52f0_3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1ef4baf52f0_3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g1ef4baf52f0_3_3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t>16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1ef4baf52f0_3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1ef4baf52f0_3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g1ef4baf52f0_3_4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t>17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just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just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just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just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just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just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just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just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just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just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just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ый заголовок и текст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just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  <a:defRPr sz="3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>
            <a:spLocks noGrp="1"/>
          </p:cNvSpPr>
          <p:nvPr>
            <p:ph type="ctrTitle"/>
          </p:nvPr>
        </p:nvSpPr>
        <p:spPr>
          <a:xfrm>
            <a:off x="710118" y="2062264"/>
            <a:ext cx="7738353" cy="2334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ru-RU" sz="4400" dirty="0">
                <a:latin typeface="Times New Roman"/>
                <a:ea typeface="Times New Roman"/>
                <a:cs typeface="Times New Roman"/>
                <a:sym typeface="Times New Roman"/>
              </a:rPr>
              <a:t>Лабораторная работа №5 “подписные ресурсы</a:t>
            </a:r>
            <a:r>
              <a:rPr lang="ru-RU" sz="4400" dirty="0" smtClean="0">
                <a:latin typeface="Times New Roman"/>
                <a:ea typeface="Times New Roman"/>
                <a:cs typeface="Times New Roman"/>
                <a:sym typeface="Times New Roman"/>
              </a:rPr>
              <a:t>” по теме </a:t>
            </a:r>
            <a:r>
              <a:rPr lang="en-US" sz="4400" dirty="0" smtClean="0">
                <a:latin typeface="Times New Roman"/>
                <a:ea typeface="Times New Roman"/>
                <a:cs typeface="Times New Roman"/>
                <a:sym typeface="Times New Roman"/>
              </a:rPr>
              <a:t>‘</a:t>
            </a:r>
            <a:r>
              <a:rPr lang="ru-RU" sz="4400" dirty="0" smtClean="0">
                <a:latin typeface="Times New Roman"/>
                <a:ea typeface="Times New Roman"/>
                <a:cs typeface="Times New Roman"/>
                <a:sym typeface="Times New Roman"/>
              </a:rPr>
              <a:t>Автоматизированные системы управления</a:t>
            </a:r>
            <a:r>
              <a:rPr lang="en-US" sz="4000" dirty="0" smtClean="0">
                <a:latin typeface="Times New Roman"/>
                <a:ea typeface="Times New Roman"/>
                <a:cs typeface="Times New Roman"/>
                <a:sym typeface="Times New Roman"/>
              </a:rPr>
              <a:t>’</a:t>
            </a:r>
            <a:endParaRPr sz="40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" name="Google Shape;89;p13"/>
          <p:cNvSpPr txBox="1">
            <a:spLocks noGrp="1"/>
          </p:cNvSpPr>
          <p:nvPr>
            <p:ph type="subTitle" idx="1"/>
          </p:nvPr>
        </p:nvSpPr>
        <p:spPr>
          <a:xfrm>
            <a:off x="2743200" y="51054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r>
              <a:rPr lang="ru-RU" sz="2000" dirty="0">
                <a:solidFill>
                  <a:srgbClr val="000000"/>
                </a:solidFill>
              </a:rPr>
              <a:t>Докладчики группы ИСТ - 23 - 2б:</a:t>
            </a:r>
            <a:endParaRPr sz="2000" dirty="0">
              <a:solidFill>
                <a:srgbClr val="000000"/>
              </a:solidFill>
            </a:endParaRPr>
          </a:p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r>
              <a:rPr lang="ru-RU" sz="2000" dirty="0" err="1">
                <a:solidFill>
                  <a:srgbClr val="000000"/>
                </a:solidFill>
              </a:rPr>
              <a:t>Вотинов</a:t>
            </a:r>
            <a:r>
              <a:rPr lang="ru-RU" sz="2000" dirty="0">
                <a:solidFill>
                  <a:srgbClr val="000000"/>
                </a:solidFill>
              </a:rPr>
              <a:t> К</a:t>
            </a:r>
            <a:r>
              <a:rPr lang="ru-RU" sz="2000" dirty="0" smtClean="0">
                <a:solidFill>
                  <a:srgbClr val="000000"/>
                </a:solidFill>
              </a:rPr>
              <a:t>. В. </a:t>
            </a:r>
            <a:endParaRPr sz="2000" dirty="0">
              <a:solidFill>
                <a:srgbClr val="000000"/>
              </a:solidFill>
            </a:endParaRPr>
          </a:p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r>
              <a:rPr lang="ru-RU" sz="2000" dirty="0" err="1">
                <a:solidFill>
                  <a:srgbClr val="000000"/>
                </a:solidFill>
              </a:rPr>
              <a:t>Лоргов</a:t>
            </a:r>
            <a:r>
              <a:rPr lang="ru-RU" sz="2000" dirty="0">
                <a:solidFill>
                  <a:srgbClr val="000000"/>
                </a:solidFill>
              </a:rPr>
              <a:t> Д. С.</a:t>
            </a:r>
            <a:endParaRPr sz="2000" dirty="0">
              <a:solidFill>
                <a:srgbClr val="000000"/>
              </a:solidFill>
            </a:endParaRPr>
          </a:p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r>
              <a:rPr lang="ru-RU" sz="2000" dirty="0">
                <a:solidFill>
                  <a:srgbClr val="000000"/>
                </a:solidFill>
              </a:rPr>
              <a:t>Селюнин В</a:t>
            </a:r>
            <a:r>
              <a:rPr lang="ru-RU" sz="2000" dirty="0" smtClean="0">
                <a:solidFill>
                  <a:srgbClr val="000000"/>
                </a:solidFill>
              </a:rPr>
              <a:t>.</a:t>
            </a:r>
            <a:r>
              <a:rPr lang="en-US" sz="2000" dirty="0" smtClean="0">
                <a:solidFill>
                  <a:srgbClr val="000000"/>
                </a:solidFill>
              </a:rPr>
              <a:t> </a:t>
            </a:r>
            <a:r>
              <a:rPr lang="ru-RU" sz="2000" dirty="0" smtClean="0">
                <a:solidFill>
                  <a:srgbClr val="000000"/>
                </a:solidFill>
              </a:rPr>
              <a:t>А.</a:t>
            </a:r>
            <a:endParaRPr sz="2000" dirty="0">
              <a:solidFill>
                <a:srgbClr val="000000"/>
              </a:solidFill>
            </a:endParaRPr>
          </a:p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r>
              <a:rPr lang="ru-RU" sz="2000" dirty="0">
                <a:solidFill>
                  <a:srgbClr val="000000"/>
                </a:solidFill>
              </a:rPr>
              <a:t>Черноморец Е.Д.</a:t>
            </a:r>
            <a:endParaRPr sz="2000" dirty="0">
              <a:solidFill>
                <a:srgbClr val="000000"/>
              </a:solidFill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0" y="459375"/>
            <a:ext cx="9144000" cy="1609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 b="1" dirty="0">
                <a:solidFill>
                  <a:schemeClr val="dk1"/>
                </a:solidFill>
              </a:rPr>
              <a:t>ФГАОУ ВО «ПЕРМСКИЙ НАЦИОНАЛЬНЫЙ ИССЛЕДОВАТЕЛЬСКИЙ ПОЛИТЕХНИЧЕСКИЙ УНИВЕРСИТЕТ»</a:t>
            </a:r>
            <a:endParaRPr sz="2200" b="1" dirty="0">
              <a:solidFill>
                <a:schemeClr val="dk1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ru-RU" sz="2200" dirty="0">
                <a:solidFill>
                  <a:schemeClr val="dk1"/>
                </a:solidFill>
              </a:rPr>
              <a:t>Кафедра вычислительной математики, механики и </a:t>
            </a:r>
            <a:r>
              <a:rPr lang="ru-RU" sz="2200" dirty="0" smtClean="0">
                <a:solidFill>
                  <a:schemeClr val="dk1"/>
                </a:solidFill>
              </a:rPr>
              <a:t>биомеханики</a:t>
            </a:r>
            <a:endParaRPr sz="22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 txBox="1">
            <a:spLocks noGrp="1"/>
          </p:cNvSpPr>
          <p:nvPr>
            <p:ph type="title"/>
          </p:nvPr>
        </p:nvSpPr>
        <p:spPr>
          <a:xfrm>
            <a:off x="467544" y="26064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ru-RU" sz="3600" dirty="0">
                <a:latin typeface="Times New Roman"/>
                <a:ea typeface="Times New Roman"/>
                <a:cs typeface="Times New Roman"/>
                <a:sym typeface="Times New Roman"/>
              </a:rPr>
              <a:t>Дмитриенко Валерий Дмитриевич</a:t>
            </a:r>
            <a:endParaRPr sz="36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" name="Google Shape;96;p14"/>
          <p:cNvSpPr txBox="1">
            <a:spLocks noGrp="1"/>
          </p:cNvSpPr>
          <p:nvPr>
            <p:ph type="body" idx="1"/>
          </p:nvPr>
        </p:nvSpPr>
        <p:spPr>
          <a:xfrm>
            <a:off x="462337" y="1340768"/>
            <a:ext cx="8286127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ru-RU" sz="2400" dirty="0">
                <a:latin typeface="Times New Roman"/>
                <a:ea typeface="Times New Roman"/>
                <a:cs typeface="Times New Roman"/>
                <a:sym typeface="Times New Roman"/>
              </a:rPr>
              <a:t>Учёная степень: доктор технических наук </a:t>
            </a: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ru-RU" sz="2400" dirty="0">
                <a:latin typeface="Times New Roman"/>
                <a:ea typeface="Times New Roman"/>
                <a:cs typeface="Times New Roman"/>
                <a:sym typeface="Times New Roman"/>
              </a:rPr>
              <a:t>Организация: Национальный технический университет “Харьковский политехнический институт”</a:t>
            </a:r>
            <a:endParaRPr dirty="0"/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ru-RU" sz="2400" dirty="0">
                <a:latin typeface="Times New Roman"/>
                <a:ea typeface="Times New Roman"/>
                <a:cs typeface="Times New Roman"/>
                <a:sym typeface="Times New Roman"/>
              </a:rPr>
              <a:t>Должность: профессор кафедры “Вычислительная техника и программирование”</a:t>
            </a: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ru-RU" sz="2400" dirty="0">
                <a:latin typeface="Times New Roman"/>
                <a:ea typeface="Times New Roman"/>
                <a:cs typeface="Times New Roman"/>
                <a:sym typeface="Times New Roman"/>
              </a:rPr>
              <a:t>Количество публикаций: 101</a:t>
            </a: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ru-RU" sz="2400" dirty="0">
                <a:latin typeface="Times New Roman"/>
                <a:ea typeface="Times New Roman"/>
                <a:cs typeface="Times New Roman"/>
                <a:sym typeface="Times New Roman"/>
              </a:rPr>
              <a:t>Количество цитирований: 310</a:t>
            </a:r>
            <a:endParaRPr dirty="0"/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ru-RU" sz="2400" dirty="0">
                <a:latin typeface="Times New Roman"/>
                <a:ea typeface="Times New Roman"/>
                <a:cs typeface="Times New Roman"/>
                <a:sym typeface="Times New Roman"/>
              </a:rPr>
              <a:t>Индекс </a:t>
            </a:r>
            <a:r>
              <a:rPr lang="ru-RU" sz="2400" dirty="0" err="1">
                <a:latin typeface="Times New Roman"/>
                <a:ea typeface="Times New Roman"/>
                <a:cs typeface="Times New Roman"/>
                <a:sym typeface="Times New Roman"/>
              </a:rPr>
              <a:t>Хирша</a:t>
            </a:r>
            <a:r>
              <a:rPr lang="ru-RU" sz="2400" dirty="0">
                <a:latin typeface="Times New Roman"/>
                <a:ea typeface="Times New Roman"/>
                <a:cs typeface="Times New Roman"/>
                <a:sym typeface="Times New Roman"/>
              </a:rPr>
              <a:t>: 5</a:t>
            </a: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7" name="Google Shape;97;p14" descr="http://rrinformation.ru/media/foto/IMG_10051-265x300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40152" y="3284984"/>
            <a:ext cx="2668141" cy="3020537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ru-RU" sz="3600" dirty="0">
                <a:latin typeface="Times New Roman"/>
                <a:ea typeface="Times New Roman"/>
                <a:cs typeface="Times New Roman"/>
                <a:sym typeface="Times New Roman"/>
              </a:rPr>
              <a:t>Статистика за последние 5 лет</a:t>
            </a:r>
            <a:endParaRPr sz="36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" name="Google Shape;105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</a:t>
            </a:fld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B6AC43BD-D9C6-45F2-B624-DC8ADD88F87C}"/>
              </a:ext>
            </a:extLst>
          </p:cNvPr>
          <p:cNvSpPr txBox="1"/>
          <p:nvPr/>
        </p:nvSpPr>
        <p:spPr>
          <a:xfrm>
            <a:off x="1772895" y="5921071"/>
            <a:ext cx="580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Рис.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Распределение публикаций по базам цитирования</a:t>
            </a:r>
          </a:p>
        </p:txBody>
      </p:sp>
      <p:graphicFrame>
        <p:nvGraphicFramePr>
          <p:cNvPr id="7" name="Диаграмма 6">
            <a:extLst>
              <a:ext uri="{FF2B5EF4-FFF2-40B4-BE49-F238E27FC236}">
                <a16:creationId xmlns:lc="http://schemas.openxmlformats.org/drawingml/2006/lockedCanvas" xmlns:a16="http://schemas.microsoft.com/office/drawing/2014/main" xmlns:xdr="http://schemas.openxmlformats.org/drawingml/2006/spreadsheetDrawing" xmlns="" id="{00000000-0008-0000-0100-000004000000}"/>
              </a:ext>
            </a:extLst>
          </p:cNvPr>
          <p:cNvGraphicFramePr>
            <a:graphicFrameLocks/>
          </p:cNvGraphicFramePr>
          <p:nvPr/>
        </p:nvGraphicFramePr>
        <p:xfrm>
          <a:off x="452063" y="1099226"/>
          <a:ext cx="8260422" cy="46984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ru-RU" sz="3600" dirty="0">
                <a:latin typeface="Times New Roman"/>
                <a:ea typeface="Times New Roman"/>
                <a:cs typeface="Times New Roman"/>
                <a:sym typeface="Times New Roman"/>
              </a:rPr>
              <a:t>Статистика за последние 5 лет</a:t>
            </a:r>
            <a:endParaRPr sz="36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2" name="Google Shape;112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4</a:t>
            </a:fld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B6AC43BD-D9C6-45F2-B624-DC8ADD88F87C}"/>
              </a:ext>
            </a:extLst>
          </p:cNvPr>
          <p:cNvSpPr txBox="1"/>
          <p:nvPr/>
        </p:nvSpPr>
        <p:spPr>
          <a:xfrm>
            <a:off x="2504345" y="5921071"/>
            <a:ext cx="43412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Рис. 2</a:t>
            </a: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Количество конференций по годам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Диаграмма 7">
            <a:extLst>
              <a:ext uri="{FF2B5EF4-FFF2-40B4-BE49-F238E27FC236}">
                <a16:creationId xmlns:xdr="http://schemas.openxmlformats.org/drawingml/2006/spreadsheetDrawing" xmlns:a16="http://schemas.microsoft.com/office/drawing/2014/main" xmlns="" xmlns:lc="http://schemas.openxmlformats.org/drawingml/2006/lockedCanvas" id="{00000000-0008-0000-0200-000002000000}"/>
              </a:ext>
            </a:extLst>
          </p:cNvPr>
          <p:cNvGraphicFramePr>
            <a:graphicFrameLocks/>
          </p:cNvGraphicFramePr>
          <p:nvPr/>
        </p:nvGraphicFramePr>
        <p:xfrm>
          <a:off x="626724" y="1089061"/>
          <a:ext cx="7911101" cy="467474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ru-RU" sz="3600">
                <a:latin typeface="Times New Roman"/>
                <a:ea typeface="Times New Roman"/>
                <a:cs typeface="Times New Roman"/>
                <a:sym typeface="Times New Roman"/>
              </a:rPr>
              <a:t>Статистика за последние 5 лет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" name="Google Shape;119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5</a:t>
            </a:fld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B6AC43BD-D9C6-45F2-B624-DC8ADD88F87C}"/>
              </a:ext>
            </a:extLst>
          </p:cNvPr>
          <p:cNvSpPr txBox="1"/>
          <p:nvPr/>
        </p:nvSpPr>
        <p:spPr>
          <a:xfrm>
            <a:off x="2469079" y="5921071"/>
            <a:ext cx="44117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Рис. 3</a:t>
            </a: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Количество конференций в городах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Диаграмма 9">
            <a:extLst>
              <a:ext uri="{FF2B5EF4-FFF2-40B4-BE49-F238E27FC236}">
                <a16:creationId xmlns:xdr="http://schemas.openxmlformats.org/drawingml/2006/spreadsheetDrawing" xmlns:a16="http://schemas.microsoft.com/office/drawing/2014/main" xmlns="" xmlns:lc="http://schemas.openxmlformats.org/drawingml/2006/lockedCanvas" id="{B3B9849D-F371-4A34-B0B9-1924A49FAFE2}"/>
              </a:ext>
            </a:extLst>
          </p:cNvPr>
          <p:cNvGraphicFramePr>
            <a:graphicFrameLocks/>
          </p:cNvGraphicFramePr>
          <p:nvPr/>
        </p:nvGraphicFramePr>
        <p:xfrm>
          <a:off x="441789" y="1099335"/>
          <a:ext cx="8280971" cy="46747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Вывод по автору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76655" y="1629383"/>
            <a:ext cx="8229600" cy="4525963"/>
          </a:xfrm>
        </p:spPr>
        <p:txBody>
          <a:bodyPr>
            <a:normAutofit/>
          </a:bodyPr>
          <a:lstStyle/>
          <a:p>
            <a:pPr marL="0" indent="450000"/>
            <a:r>
              <a:rPr lang="ru-RU" dirty="0" smtClean="0"/>
              <a:t>За последние годы количество конференций автора возрастает, большинство конференций Дмитриенко В. Д. провёл в 2022 </a:t>
            </a:r>
            <a:r>
              <a:rPr lang="ru-RU" dirty="0" smtClean="0"/>
              <a:t>году, а количество публикаций подает, за последние 2 года автор не опубликовал ни одной статьи. </a:t>
            </a:r>
            <a:r>
              <a:rPr lang="ru-RU" dirty="0" smtClean="0"/>
              <a:t>По итогам анализа самым популярным городом для проведения конференций учёного оказался Харьков. Большинство статей автора входит базу цитирования </a:t>
            </a:r>
            <a:r>
              <a:rPr lang="ru-RU" dirty="0" smtClean="0"/>
              <a:t>РИНЦ, и ни одна статья не входит в базу цитирования ВАК.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6</a:t>
            </a:fld>
            <a:endParaRPr lang="ru-RU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8"/>
          <p:cNvSpPr txBox="1">
            <a:spLocks noGrp="1"/>
          </p:cNvSpPr>
          <p:nvPr>
            <p:ph type="title"/>
          </p:nvPr>
        </p:nvSpPr>
        <p:spPr>
          <a:xfrm>
            <a:off x="467544" y="26064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ru-RU" dirty="0">
                <a:latin typeface="Times New Roman"/>
                <a:ea typeface="Times New Roman"/>
                <a:cs typeface="Times New Roman"/>
                <a:sym typeface="Times New Roman"/>
              </a:rPr>
              <a:t>Автоматизированные системы управления (АСУ)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5" name="Google Shape;125;p18"/>
          <p:cNvSpPr txBox="1">
            <a:spLocks noGrp="1"/>
          </p:cNvSpPr>
          <p:nvPr>
            <p:ph type="body" idx="1"/>
          </p:nvPr>
        </p:nvSpPr>
        <p:spPr>
          <a:xfrm>
            <a:off x="1" y="1797978"/>
            <a:ext cx="4058292" cy="4558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342900">
              <a:spcBef>
                <a:spcPts val="0"/>
              </a:spcBef>
              <a:buSzPts val="2400"/>
            </a:pPr>
            <a:r>
              <a:rPr lang="ru-RU" dirty="0" smtClean="0"/>
              <a:t>АСУ – это комплекс аппаратных и программных средств, а также персонала, предназначенный для управления различными процессами в рамках технологического процесса, производства, предприятия.</a:t>
            </a:r>
            <a:endParaRPr dirty="0"/>
          </a:p>
        </p:txBody>
      </p:sp>
      <p:sp>
        <p:nvSpPr>
          <p:cNvPr id="126" name="Google Shape;126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7</a:t>
            </a:fld>
            <a:endParaRPr/>
          </a:p>
        </p:txBody>
      </p:sp>
      <p:pic>
        <p:nvPicPr>
          <p:cNvPr id="127" name="Google Shape;127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52249" y="1791775"/>
            <a:ext cx="4334551" cy="4334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История 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366464"/>
            <a:ext cx="8229600" cy="4759700"/>
          </a:xfrm>
        </p:spPr>
        <p:txBody>
          <a:bodyPr>
            <a:noAutofit/>
          </a:bodyPr>
          <a:lstStyle/>
          <a:p>
            <a:pPr marL="0" indent="360000">
              <a:spcBef>
                <a:spcPts val="0"/>
              </a:spcBef>
            </a:pPr>
            <a:r>
              <a:rPr lang="ru-RU" dirty="0" smtClean="0"/>
              <a:t>Этапы</a:t>
            </a:r>
            <a:r>
              <a:rPr lang="en-US" dirty="0" smtClean="0"/>
              <a:t>:</a:t>
            </a:r>
            <a:endParaRPr lang="ru-RU" dirty="0" smtClean="0"/>
          </a:p>
          <a:p>
            <a:pPr marL="0" indent="360000">
              <a:spcBef>
                <a:spcPts val="0"/>
              </a:spcBef>
              <a:buSzPct val="100000"/>
              <a:buFont typeface="+mj-lt"/>
              <a:buAutoNum type="arabicPeriod"/>
            </a:pPr>
            <a:r>
              <a:rPr lang="ru-RU" dirty="0" smtClean="0"/>
              <a:t>Ранняя промышленная </a:t>
            </a:r>
            <a:r>
              <a:rPr lang="ru-RU" dirty="0" smtClean="0"/>
              <a:t>революция.</a:t>
            </a:r>
          </a:p>
          <a:p>
            <a:pPr marL="0" indent="360000">
              <a:spcBef>
                <a:spcPts val="0"/>
              </a:spcBef>
              <a:buSzPct val="100000"/>
              <a:buFont typeface="+mj-lt"/>
              <a:buAutoNum type="arabicPeriod"/>
            </a:pPr>
            <a:r>
              <a:rPr lang="ru-RU" dirty="0" smtClean="0"/>
              <a:t>Телеграф и электрическое </a:t>
            </a:r>
            <a:r>
              <a:rPr lang="ru-RU" dirty="0" smtClean="0"/>
              <a:t>управление</a:t>
            </a:r>
            <a:r>
              <a:rPr lang="en-US" dirty="0" smtClean="0"/>
              <a:t>.</a:t>
            </a:r>
          </a:p>
          <a:p>
            <a:pPr marL="0" indent="360000">
              <a:spcBef>
                <a:spcPts val="0"/>
              </a:spcBef>
              <a:buSzPct val="100000"/>
              <a:buFont typeface="+mj-lt"/>
              <a:buAutoNum type="arabicPeriod"/>
            </a:pPr>
            <a:r>
              <a:rPr lang="ru-RU" dirty="0" smtClean="0"/>
              <a:t>Новаторская работа в области управления с обратной </a:t>
            </a:r>
            <a:r>
              <a:rPr lang="ru-RU" dirty="0" smtClean="0"/>
              <a:t>связью</a:t>
            </a:r>
            <a:r>
              <a:rPr lang="en-US" dirty="0" smtClean="0"/>
              <a:t>.</a:t>
            </a:r>
          </a:p>
          <a:p>
            <a:pPr marL="0" indent="360000">
              <a:spcBef>
                <a:spcPts val="0"/>
              </a:spcBef>
              <a:buSzPct val="100000"/>
              <a:buFont typeface="+mj-lt"/>
              <a:buAutoNum type="arabicPeriod"/>
            </a:pPr>
            <a:r>
              <a:rPr lang="ru-RU" dirty="0" smtClean="0"/>
              <a:t>Вторая мировая война и системы управления с обратной </a:t>
            </a:r>
            <a:r>
              <a:rPr lang="ru-RU" dirty="0" smtClean="0"/>
              <a:t>связью</a:t>
            </a:r>
            <a:r>
              <a:rPr lang="en-US" dirty="0" smtClean="0"/>
              <a:t>.</a:t>
            </a:r>
          </a:p>
          <a:p>
            <a:pPr marL="0" indent="360000">
              <a:spcBef>
                <a:spcPts val="0"/>
              </a:spcBef>
              <a:buSzPct val="100000"/>
              <a:buFont typeface="+mj-lt"/>
              <a:buAutoNum type="arabicPeriod"/>
            </a:pPr>
            <a:r>
              <a:rPr lang="ru-RU" dirty="0" smtClean="0"/>
              <a:t>Достижения в области вычислительной техники и цифрового </a:t>
            </a:r>
            <a:r>
              <a:rPr lang="ru-RU" dirty="0" smtClean="0"/>
              <a:t>управления</a:t>
            </a:r>
            <a:endParaRPr lang="en-US" dirty="0" smtClean="0"/>
          </a:p>
          <a:p>
            <a:pPr marL="0" indent="360000">
              <a:spcBef>
                <a:spcPts val="0"/>
              </a:spcBef>
              <a:buSzPct val="100000"/>
              <a:buFont typeface="+mj-lt"/>
              <a:buAutoNum type="arabicPeriod"/>
            </a:pPr>
            <a:r>
              <a:rPr lang="ru-RU" dirty="0" smtClean="0"/>
              <a:t>Современная эпоха и интеграция систем управления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8</a:t>
            </a:fld>
            <a:endParaRPr lang="ru-RU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ru-RU" dirty="0"/>
              <a:t>Области применения и цель АСУ</a:t>
            </a:r>
            <a:endParaRPr dirty="0"/>
          </a:p>
        </p:txBody>
      </p:sp>
      <p:sp>
        <p:nvSpPr>
          <p:cNvPr id="133" name="Google Shape;133;p1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ru-RU" dirty="0"/>
              <a:t>АСУ используются для автоматизации и управления производственными процессами в таких отраслях, как промышленность, энергетика, транспорт, медицина.</a:t>
            </a:r>
            <a:endParaRPr dirty="0"/>
          </a:p>
          <a:p>
            <a:pPr marL="342900" lvl="0" indent="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ru-RU" dirty="0"/>
              <a:t>Цель: повышение эффективности управления объектом на основе роста производительности труда и совершенствования методов планирования процесса управления.</a:t>
            </a:r>
            <a:endParaRPr dirty="0"/>
          </a:p>
        </p:txBody>
      </p:sp>
      <p:sp>
        <p:nvSpPr>
          <p:cNvPr id="134" name="Google Shape;134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ru-RU" dirty="0"/>
              <a:t>Децентрализованная структура АСУ</a:t>
            </a:r>
            <a:endParaRPr dirty="0"/>
          </a:p>
        </p:txBody>
      </p:sp>
      <p:sp>
        <p:nvSpPr>
          <p:cNvPr id="140" name="Google Shape;140;p20"/>
          <p:cNvSpPr txBox="1">
            <a:spLocks noGrp="1"/>
          </p:cNvSpPr>
          <p:nvPr>
            <p:ph type="body" idx="1"/>
          </p:nvPr>
        </p:nvSpPr>
        <p:spPr>
          <a:xfrm>
            <a:off x="179512" y="1412776"/>
            <a:ext cx="504056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ru-RU" dirty="0"/>
              <a:t>Построение системы с такой структурой эффективно при автоматизации технологически независимых объектов. Такая система представляет собой совокупность нескольких независимых систем со своей информационной и алгоритмической базой.</a:t>
            </a:r>
            <a:endParaRPr dirty="0"/>
          </a:p>
        </p:txBody>
      </p:sp>
      <p:sp>
        <p:nvSpPr>
          <p:cNvPr id="141" name="Google Shape;141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10</a:t>
            </a:fld>
            <a:endParaRPr/>
          </a:p>
        </p:txBody>
      </p:sp>
      <p:pic>
        <p:nvPicPr>
          <p:cNvPr id="142" name="Google Shape;142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92080" y="1556792"/>
            <a:ext cx="3641020" cy="2088232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0"/>
          <p:cNvSpPr/>
          <p:nvPr/>
        </p:nvSpPr>
        <p:spPr>
          <a:xfrm>
            <a:off x="6084168" y="3717032"/>
            <a:ext cx="2520280" cy="1754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0" i="0" u="none" strike="noStrike" cap="non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Рис. 4. Децентрализованная </a:t>
            </a:r>
            <a:r>
              <a:rPr lang="ru-RU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структура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Каждый участник сам принимает решения в сотрудничестве с другими</a:t>
            </a:r>
            <a:endParaRPr sz="1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ru-RU" dirty="0"/>
              <a:t>Централизованная структура АСУ</a:t>
            </a:r>
            <a:endParaRPr dirty="0"/>
          </a:p>
        </p:txBody>
      </p:sp>
      <p:sp>
        <p:nvSpPr>
          <p:cNvPr id="149" name="Google Shape;149;p21"/>
          <p:cNvSpPr txBox="1">
            <a:spLocks noGrp="1"/>
          </p:cNvSpPr>
          <p:nvPr>
            <p:ph type="body" idx="1"/>
          </p:nvPr>
        </p:nvSpPr>
        <p:spPr>
          <a:xfrm>
            <a:off x="0" y="1484784"/>
            <a:ext cx="4752528" cy="4997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ru-RU" dirty="0"/>
              <a:t>Осуществляет реализацию всех процессов управления объектами в едином органе управления, который осуществляет сбор и обработку информации об управляемых объектах и на основе их анализа в соответствии с критериями системы вырабатывает управляющие сигналы.</a:t>
            </a:r>
            <a:endParaRPr dirty="0"/>
          </a:p>
        </p:txBody>
      </p:sp>
      <p:sp>
        <p:nvSpPr>
          <p:cNvPr id="150" name="Google Shape;150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11</a:t>
            </a:fld>
            <a:endParaRPr/>
          </a:p>
        </p:txBody>
      </p:sp>
      <p:pic>
        <p:nvPicPr>
          <p:cNvPr id="151" name="Google Shape;151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72200" y="1772816"/>
            <a:ext cx="2143125" cy="226695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1"/>
          <p:cNvSpPr/>
          <p:nvPr/>
        </p:nvSpPr>
        <p:spPr>
          <a:xfrm>
            <a:off x="5615608" y="4005064"/>
            <a:ext cx="352839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0" i="0" u="none" strike="noStrike" cap="non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Рис. 5. Централизованная </a:t>
            </a:r>
            <a:r>
              <a:rPr lang="ru-RU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структура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Единый управляющий пункт, принимающий все решения</a:t>
            </a:r>
            <a:endParaRPr sz="1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ru-RU"/>
              <a:t>Иерархическая структура АСУ</a:t>
            </a:r>
            <a:endParaRPr/>
          </a:p>
        </p:txBody>
      </p:sp>
      <p:sp>
        <p:nvSpPr>
          <p:cNvPr id="158" name="Google Shape;158;p2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5482952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ru-RU" dirty="0"/>
              <a:t>Подобная структура АСУ  способствует эффективному диспетчерскому управлению работой оборудования и сбору информации от датчиков системы автоматизации, постоянному контролю технологических процессов промышленного производства.</a:t>
            </a:r>
            <a:endParaRPr dirty="0"/>
          </a:p>
        </p:txBody>
      </p:sp>
      <p:sp>
        <p:nvSpPr>
          <p:cNvPr id="159" name="Google Shape;159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12</a:t>
            </a:fld>
            <a:endParaRPr/>
          </a:p>
        </p:txBody>
      </p:sp>
      <p:pic>
        <p:nvPicPr>
          <p:cNvPr id="160" name="Google Shape;160;p22" descr="Пирамида с слоями иллюстрация штока. иллюстрации насчитывающей отрезок -  644758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12160" y="1700808"/>
            <a:ext cx="2910082" cy="3168352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2"/>
          <p:cNvSpPr/>
          <p:nvPr/>
        </p:nvSpPr>
        <p:spPr>
          <a:xfrm>
            <a:off x="5255568" y="4869160"/>
            <a:ext cx="388843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0" i="0" u="none" strike="noStrike" cap="non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Рис. </a:t>
            </a:r>
            <a:r>
              <a:rPr lang="ru-RU" sz="1800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6. </a:t>
            </a:r>
            <a:r>
              <a:rPr lang="ru-RU" sz="1800" b="0" i="0" u="none" strike="noStrike" cap="non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Иерархическая </a:t>
            </a:r>
            <a:r>
              <a:rPr lang="ru-RU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структура</a:t>
            </a:r>
            <a:endParaRPr dirty="0"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Каждый элемент выполняет свою конкретную задачу</a:t>
            </a:r>
            <a:endParaRPr sz="1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2" name="Google Shape;162;p22"/>
          <p:cNvSpPr/>
          <p:nvPr/>
        </p:nvSpPr>
        <p:spPr>
          <a:xfrm>
            <a:off x="6943850" y="3216500"/>
            <a:ext cx="1169700" cy="300600"/>
          </a:xfrm>
          <a:prstGeom prst="rect">
            <a:avLst/>
          </a:prstGeom>
          <a:solidFill>
            <a:srgbClr val="009FE1"/>
          </a:solidFill>
          <a:ln w="9525" cap="flat" cmpd="sng">
            <a:solidFill>
              <a:srgbClr val="009F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Статистика за последние 5 лет</a:t>
            </a:r>
            <a:endParaRPr/>
          </a:p>
        </p:txBody>
      </p:sp>
      <p:sp>
        <p:nvSpPr>
          <p:cNvPr id="170" name="Google Shape;170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t>13</a:t>
            </a:fld>
            <a:endParaRPr/>
          </a:p>
        </p:txBody>
      </p:sp>
      <p:graphicFrame>
        <p:nvGraphicFramePr>
          <p:cNvPr id="7" name="Диаграмма 6">
            <a:extLst>
              <a:ext uri="{FF2B5EF4-FFF2-40B4-BE49-F238E27FC236}">
                <a16:creationId xmlns:xdr="http://schemas.openxmlformats.org/drawingml/2006/spreadsheetDrawing" xmlns:a16="http://schemas.microsoft.com/office/drawing/2014/main" xmlns="" xmlns:lc="http://schemas.openxmlformats.org/drawingml/2006/lockedCanvas" id="{C5138632-6C8E-4493-BA2E-AF2E47A9B5F0}"/>
              </a:ext>
            </a:extLst>
          </p:cNvPr>
          <p:cNvGraphicFramePr>
            <a:graphicFrameLocks/>
          </p:cNvGraphicFramePr>
          <p:nvPr/>
        </p:nvGraphicFramePr>
        <p:xfrm>
          <a:off x="864974" y="1239894"/>
          <a:ext cx="6796216" cy="48643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B6AC43BD-D9C6-45F2-B624-DC8ADD88F87C}"/>
              </a:ext>
            </a:extLst>
          </p:cNvPr>
          <p:cNvSpPr txBox="1"/>
          <p:nvPr/>
        </p:nvSpPr>
        <p:spPr>
          <a:xfrm>
            <a:off x="1917650" y="5921071"/>
            <a:ext cx="5514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Рис. </a:t>
            </a: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7. Количество публикаций по базам цитирования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Статистика за последние 5 лет</a:t>
            </a:r>
            <a:endParaRPr/>
          </a:p>
        </p:txBody>
      </p:sp>
      <p:sp>
        <p:nvSpPr>
          <p:cNvPr id="179" name="Google Shape;179;p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t>14</a:t>
            </a:fld>
            <a:endParaRPr/>
          </a:p>
        </p:txBody>
      </p:sp>
      <p:graphicFrame>
        <p:nvGraphicFramePr>
          <p:cNvPr id="6" name="Диаграмма 5">
            <a:extLst>
              <a:ext uri="{FF2B5EF4-FFF2-40B4-BE49-F238E27FC236}">
                <a16:creationId xmlns:xdr="http://schemas.openxmlformats.org/drawingml/2006/spreadsheetDrawing" xmlns:a16="http://schemas.microsoft.com/office/drawing/2014/main" xmlns="" xmlns:lc="http://schemas.openxmlformats.org/drawingml/2006/lockedCanvas" id="{9BA22136-5D49-4ADC-B887-1541E9414CC9}"/>
              </a:ext>
            </a:extLst>
          </p:cNvPr>
          <p:cNvGraphicFramePr/>
          <p:nvPr/>
        </p:nvGraphicFramePr>
        <p:xfrm>
          <a:off x="741406" y="1244400"/>
          <a:ext cx="7463482" cy="47980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B6AC43BD-D9C6-45F2-B624-DC8ADD88F87C}"/>
              </a:ext>
            </a:extLst>
          </p:cNvPr>
          <p:cNvSpPr txBox="1"/>
          <p:nvPr/>
        </p:nvSpPr>
        <p:spPr>
          <a:xfrm>
            <a:off x="2571674" y="5921071"/>
            <a:ext cx="42066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Рис. </a:t>
            </a: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8. Количество публикаций по годам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Статистика за последние 5 лет</a:t>
            </a:r>
            <a:endParaRPr/>
          </a:p>
        </p:txBody>
      </p:sp>
      <p:sp>
        <p:nvSpPr>
          <p:cNvPr id="188" name="Google Shape;188;p2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t>15</a:t>
            </a:fld>
            <a:endParaRPr/>
          </a:p>
        </p:txBody>
      </p:sp>
      <p:graphicFrame>
        <p:nvGraphicFramePr>
          <p:cNvPr id="6" name="Диаграмма 5">
            <a:extLst>
              <a:ext uri="{FF2B5EF4-FFF2-40B4-BE49-F238E27FC236}">
                <a16:creationId xmlns:xdr="http://schemas.openxmlformats.org/drawingml/2006/spreadsheetDrawing" xmlns:a16="http://schemas.microsoft.com/office/drawing/2014/main" xmlns="" xmlns:lc="http://schemas.openxmlformats.org/drawingml/2006/lockedCanvas" id="{2904C79D-3885-4D5E-BF1C-F901491BD98D}"/>
              </a:ext>
            </a:extLst>
          </p:cNvPr>
          <p:cNvGraphicFramePr/>
          <p:nvPr/>
        </p:nvGraphicFramePr>
        <p:xfrm>
          <a:off x="1087396" y="1301140"/>
          <a:ext cx="6993924" cy="45225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B6AC43BD-D9C6-45F2-B624-DC8ADD88F87C}"/>
              </a:ext>
            </a:extLst>
          </p:cNvPr>
          <p:cNvSpPr txBox="1"/>
          <p:nvPr/>
        </p:nvSpPr>
        <p:spPr>
          <a:xfrm>
            <a:off x="2463474" y="5921071"/>
            <a:ext cx="44230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Рис. </a:t>
            </a: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9. Количество публикаций по авторам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6"/>
          <p:cNvSpPr txBox="1">
            <a:spLocks noGrp="1"/>
          </p:cNvSpPr>
          <p:nvPr>
            <p:ph type="title"/>
          </p:nvPr>
        </p:nvSpPr>
        <p:spPr>
          <a:xfrm>
            <a:off x="481914" y="-170205"/>
            <a:ext cx="8229600" cy="1143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Публикации в журналах</a:t>
            </a:r>
            <a:endParaRPr dirty="0"/>
          </a:p>
        </p:txBody>
      </p:sp>
      <p:sp>
        <p:nvSpPr>
          <p:cNvPr id="197" name="Google Shape;197;p2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t>16</a:t>
            </a:fld>
            <a:endParaRPr/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/>
        </p:nvGraphicFramePr>
        <p:xfrm>
          <a:off x="473955" y="667262"/>
          <a:ext cx="7805071" cy="5980673"/>
        </p:xfrm>
        <a:graphic>
          <a:graphicData uri="http://schemas.openxmlformats.org/drawingml/2006/table">
            <a:tbl>
              <a:tblPr/>
              <a:tblGrid>
                <a:gridCol w="6490538"/>
                <a:gridCol w="1314533"/>
              </a:tblGrid>
              <a:tr h="374591"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b="1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Наименование издания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 dirty="0" err="1">
                          <a:solidFill>
                            <a:srgbClr val="000000"/>
                          </a:solidFill>
                          <a:latin typeface="Times New Roman"/>
                        </a:rPr>
                        <a:t>Импакт</a:t>
                      </a:r>
                      <a:r>
                        <a:rPr lang="ru-RU" sz="1200" b="1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 фактор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889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br>
                        <a:rPr lang="ru-RU" sz="12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</a:br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НАУКОЕМКИЕ ТЕХНОЛОГИИ В </a:t>
                      </a:r>
                      <a:r>
                        <a:rPr lang="ru-RU" sz="1200" b="0" i="0" u="none" strike="noStrike" dirty="0" smtClean="0">
                          <a:solidFill>
                            <a:srgbClr val="000000"/>
                          </a:solidFill>
                          <a:latin typeface="Times New Roman"/>
                        </a:rPr>
                        <a:t>МАШИНОСТРОЕНИИ</a:t>
                      </a:r>
                      <a:endParaRPr lang="ru-RU" sz="12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0,217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4466">
                <a:tc>
                  <a:txBody>
                    <a:bodyPr/>
                    <a:lstStyle/>
                    <a:p>
                      <a:pPr algn="l" fontAlgn="ctr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Известия ТулГУ. Технические науки. 2018. Вып. 6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0,276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974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Вестник Брянского государственного технического университета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0,337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7296">
                <a:tc>
                  <a:txBody>
                    <a:bodyPr/>
                    <a:lstStyle/>
                    <a:p>
                      <a:pPr algn="l" fontAlgn="ctr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ЭСиК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0,371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7296">
                <a:tc>
                  <a:txBody>
                    <a:bodyPr/>
                    <a:lstStyle/>
                    <a:p>
                      <a:pPr algn="l" fontAlgn="ctr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Инженерный вестник Дона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0,41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729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T-Comm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0,283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5643">
                <a:tc>
                  <a:txBody>
                    <a:bodyPr/>
                    <a:lstStyle/>
                    <a:p>
                      <a:pPr algn="l" fontAlgn="ctr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Системы управления, связи и безопасности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0,429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729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EUROPEAN SCIENCE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0,252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7296">
                <a:tc>
                  <a:txBody>
                    <a:bodyPr/>
                    <a:lstStyle/>
                    <a:p>
                      <a:pPr algn="l" fontAlgn="ctr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Вестник МГТУ «Станкин»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0,429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7296">
                <a:tc>
                  <a:txBody>
                    <a:bodyPr/>
                    <a:lstStyle/>
                    <a:p>
                      <a:pPr algn="l" fontAlgn="ctr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Наука и техника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0,57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446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SYSTEM ANALYSIS AND MATHEMATICAL MODELING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0,473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7296">
                <a:tc>
                  <a:txBody>
                    <a:bodyPr/>
                    <a:lstStyle/>
                    <a:p>
                      <a:pPr algn="l" fontAlgn="ctr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НАУКА И ОБРАЗОВАНИЕ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0,474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8466">
                <a:tc>
                  <a:txBody>
                    <a:bodyPr/>
                    <a:lstStyle/>
                    <a:p>
                      <a:pPr algn="l" fontAlgn="ctr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ВЕСТНИК ВОРОНЕЖСКОГО ИНСТИТУТА ВЫСОКИХ ТЕХНОЛОГИЙ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0,385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1699">
                <a:tc>
                  <a:txBody>
                    <a:bodyPr/>
                    <a:lstStyle/>
                    <a:p>
                      <a:pPr algn="l" fontAlgn="ctr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ЭЛЕКТРОТЕХНИЧЕСКИЕ И ИНФОРМАЦИОННЫЕ КОМПЛЕКСЫ И СИСТЕМЫ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1,552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8466">
                <a:tc>
                  <a:txBody>
                    <a:bodyPr/>
                    <a:lstStyle/>
                    <a:p>
                      <a:pPr algn="l" fontAlgn="ctr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ВЕСТНИК ВОРОНЕЖСКОГО ИНСТИТУТА ВЫСОКИХ ТЕХНОЛОГИЙ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1,917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729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AGRONOMY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2,449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729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SCIENTIFIC REPORTS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rgbClr val="646464"/>
                          </a:solidFill>
                          <a:latin typeface="Times New Roman"/>
                        </a:rPr>
                        <a:t>4,836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5643"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b="1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Средний ИФ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0,921176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305643"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Средний ИФ русского журнала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0,887833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187296"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b="1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Средний ИФ иностранного журнала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1,955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7"/>
          <p:cNvSpPr txBox="1">
            <a:spLocks noGrp="1"/>
          </p:cNvSpPr>
          <p:nvPr>
            <p:ph type="title"/>
          </p:nvPr>
        </p:nvSpPr>
        <p:spPr>
          <a:xfrm>
            <a:off x="457200" y="2285988"/>
            <a:ext cx="8229600" cy="1143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 dirty="0"/>
              <a:t>Спасибо за внимание!!!</a:t>
            </a:r>
            <a:endParaRPr b="1" dirty="0"/>
          </a:p>
        </p:txBody>
      </p:sp>
      <p:sp>
        <p:nvSpPr>
          <p:cNvPr id="205" name="Google Shape;205;p2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t>17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280</TotalTime>
  <Words>622</Words>
  <Application>Microsoft Office PowerPoint</Application>
  <PresentationFormat>Экран (4:3)</PresentationFormat>
  <Paragraphs>132</Paragraphs>
  <Slides>17</Slides>
  <Notes>15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18" baseType="lpstr">
      <vt:lpstr>Тема Office</vt:lpstr>
      <vt:lpstr>Лабораторная работа №5 “подписные ресурсы” по теме ‘Автоматизированные системы управления’</vt:lpstr>
      <vt:lpstr>Дмитриенко Валерий Дмитриевич</vt:lpstr>
      <vt:lpstr>Статистика за последние 5 лет</vt:lpstr>
      <vt:lpstr>Статистика за последние 5 лет</vt:lpstr>
      <vt:lpstr>Статистика за последние 5 лет</vt:lpstr>
      <vt:lpstr>Вывод по автору</vt:lpstr>
      <vt:lpstr>Автоматизированные системы управления (АСУ)</vt:lpstr>
      <vt:lpstr>История </vt:lpstr>
      <vt:lpstr>Области применения и цель АСУ</vt:lpstr>
      <vt:lpstr>Децентрализованная структура АСУ</vt:lpstr>
      <vt:lpstr>Централизованная структура АСУ</vt:lpstr>
      <vt:lpstr>Иерархическая структура АСУ</vt:lpstr>
      <vt:lpstr>Статистика за последние 5 лет</vt:lpstr>
      <vt:lpstr>Статистика за последние 5 лет</vt:lpstr>
      <vt:lpstr>Статистика за последние 5 лет</vt:lpstr>
      <vt:lpstr>Публикации в журналах</vt:lpstr>
      <vt:lpstr>Спасибо за внимание!!!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№5 “подписные ресурсы”</dc:title>
  <dc:creator>Даниил Лоргов</dc:creator>
  <cp:lastModifiedBy>Имя учётки</cp:lastModifiedBy>
  <cp:revision>32</cp:revision>
  <dcterms:modified xsi:type="dcterms:W3CDTF">2024-01-18T03:01:07Z</dcterms:modified>
</cp:coreProperties>
</file>