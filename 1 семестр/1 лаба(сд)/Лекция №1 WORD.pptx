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35"/>
  </p:notesMasterIdLst>
  <p:sldIdLst>
    <p:sldId id="300" r:id="rId2"/>
    <p:sldId id="301" r:id="rId3"/>
    <p:sldId id="302" r:id="rId4"/>
    <p:sldId id="303" r:id="rId5"/>
    <p:sldId id="304" r:id="rId6"/>
    <p:sldId id="305" r:id="rId7"/>
    <p:sldId id="280" r:id="rId8"/>
    <p:sldId id="299" r:id="rId9"/>
    <p:sldId id="289" r:id="rId10"/>
    <p:sldId id="281" r:id="rId11"/>
    <p:sldId id="290" r:id="rId12"/>
    <p:sldId id="291" r:id="rId13"/>
    <p:sldId id="292" r:id="rId14"/>
    <p:sldId id="293" r:id="rId15"/>
    <p:sldId id="294" r:id="rId16"/>
    <p:sldId id="283" r:id="rId17"/>
    <p:sldId id="295" r:id="rId18"/>
    <p:sldId id="282" r:id="rId19"/>
    <p:sldId id="259" r:id="rId20"/>
    <p:sldId id="260" r:id="rId21"/>
    <p:sldId id="257" r:id="rId22"/>
    <p:sldId id="296" r:id="rId23"/>
    <p:sldId id="297" r:id="rId24"/>
    <p:sldId id="256" r:id="rId25"/>
    <p:sldId id="284" r:id="rId26"/>
    <p:sldId id="264" r:id="rId27"/>
    <p:sldId id="265" r:id="rId28"/>
    <p:sldId id="285" r:id="rId29"/>
    <p:sldId id="298" r:id="rId30"/>
    <p:sldId id="267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6005" autoAdjust="0"/>
  </p:normalViewPr>
  <p:slideViewPr>
    <p:cSldViewPr>
      <p:cViewPr varScale="1">
        <p:scale>
          <a:sx n="66" d="100"/>
          <a:sy n="66" d="100"/>
        </p:scale>
        <p:origin x="14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Всего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Лист1!$B$2:$H$2</c:f>
              <c:numCache>
                <c:formatCode>General</c:formatCode>
                <c:ptCount val="7"/>
                <c:pt idx="0">
                  <c:v>2010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Лист1!$B$4:$H$4</c:f>
              <c:numCache>
                <c:formatCode>0.00</c:formatCode>
                <c:ptCount val="7"/>
                <c:pt idx="0">
                  <c:v>68.645600000000002</c:v>
                </c:pt>
                <c:pt idx="1">
                  <c:v>124.92149999999999</c:v>
                </c:pt>
                <c:pt idx="2">
                  <c:v>132.21629999999999</c:v>
                </c:pt>
                <c:pt idx="3">
                  <c:v>144.20949999999999</c:v>
                </c:pt>
                <c:pt idx="4">
                  <c:v>149.20359999999999</c:v>
                </c:pt>
                <c:pt idx="5">
                  <c:v>165.2303</c:v>
                </c:pt>
                <c:pt idx="6">
                  <c:v>157.66310000000001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D-42F3-A66F-F129993314F2}"/>
            </c:ext>
          </c:extLst>
        </c:ser>
        <c:ser>
          <c:idx val="1"/>
          <c:order val="1"/>
          <c:tx>
            <c:v>Оплата труда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Лист1!$I$4:$O$4</c:f>
              <c:numCache>
                <c:formatCode>0.00</c:formatCode>
                <c:ptCount val="7"/>
                <c:pt idx="0">
                  <c:v>31.309000000000001</c:v>
                </c:pt>
                <c:pt idx="1">
                  <c:v>53.423400000000001</c:v>
                </c:pt>
                <c:pt idx="2">
                  <c:v>57.994699999999995</c:v>
                </c:pt>
                <c:pt idx="3">
                  <c:v>58.878699999999995</c:v>
                </c:pt>
                <c:pt idx="4">
                  <c:v>62.613800000000005</c:v>
                </c:pt>
                <c:pt idx="5">
                  <c:v>71.000399999999999</c:v>
                </c:pt>
                <c:pt idx="6">
                  <c:v>68.452799999999996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8D-42F3-A66F-F129993314F2}"/>
            </c:ext>
          </c:extLst>
        </c:ser>
        <c:ser>
          <c:idx val="2"/>
          <c:order val="2"/>
          <c:tx>
            <c:v>Приобретение оборудования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Лист1!$W$4:$AC$4</c:f>
              <c:numCache>
                <c:formatCode>0.00</c:formatCode>
                <c:ptCount val="7"/>
                <c:pt idx="0">
                  <c:v>4.1059999999999999</c:v>
                </c:pt>
                <c:pt idx="1">
                  <c:v>4.9531000000000001</c:v>
                </c:pt>
                <c:pt idx="2">
                  <c:v>2.7653000000000003</c:v>
                </c:pt>
                <c:pt idx="3">
                  <c:v>4.0981000000000005</c:v>
                </c:pt>
                <c:pt idx="4">
                  <c:v>2.7296</c:v>
                </c:pt>
                <c:pt idx="5">
                  <c:v>2.4189000000000003</c:v>
                </c:pt>
                <c:pt idx="6">
                  <c:v>5.2388000000000003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8D-42F3-A66F-F12999331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9"/>
        <c:overlap val="-27"/>
        <c:axId val="340070216"/>
        <c:axId val="340067592"/>
      </c:barChart>
      <c:catAx>
        <c:axId val="340070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RU"/>
          </a:p>
        </c:txPr>
        <c:crossAx val="340067592"/>
        <c:crosses val="autoZero"/>
        <c:auto val="1"/>
        <c:lblAlgn val="ctr"/>
        <c:lblOffset val="100"/>
        <c:noMultiLvlLbl val="0"/>
      </c:catAx>
      <c:valAx>
        <c:axId val="340067592"/>
        <c:scaling>
          <c:orientation val="minMax"/>
          <c:max val="17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ru-RU"/>
                  <a:t>Млрд. руб.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RU"/>
          </a:p>
        </c:txPr>
        <c:crossAx val="340070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800" baseline="0">
          <a:solidFill>
            <a:sysClr val="windowText" lastClr="000000"/>
          </a:solidFill>
          <a:latin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09198-51DD-4A12-B68D-9AF69DBF533C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91858-0B3A-45EB-BEDF-0F510BE1BD8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91858-0B3A-45EB-BEDF-0F510BE1BD84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B8EBC-9ACF-48F9-AFA8-7D3B5B8C1482}" type="datetimeFigureOut">
              <a:rPr lang="ru-RU" smtClean="0"/>
              <a:pPr/>
              <a:t>12.09.2022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E1F13-4336-4B97-8ECA-991A88574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0.wmf"/><Relationship Id="rId4" Type="http://schemas.openxmlformats.org/officeDocument/2006/relationships/image" Target="../media/image52.png"/><Relationship Id="rId9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924" y="2889269"/>
            <a:ext cx="691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исследовательская работа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8630" y="2492405"/>
            <a:ext cx="2566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48286" y="3612027"/>
            <a:ext cx="25667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№1 </a:t>
            </a: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5253" y="4182593"/>
            <a:ext cx="81134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«Введение в исследовательскую работу. Текстовые </a:t>
            </a:r>
            <a:r>
              <a:rPr lang="ru-RU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редакторы»</a:t>
            </a: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высшего образования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sz="7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«Пермский национальный исследовательский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политехнический университет»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sz="1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Факультет прикладной математики и механики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«Вычислительная математика, механика и биомеханика»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Направление: 09.03.02 «Информационные системы и технологии»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780790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026" name="Picture 2" descr="https://sun9-54.userapi.com/impf/7TEe0uGQdsg7udkOnj39ryY3N04ankb82TSTNA/lgDk5r-YVTY.jpg?size=600x600&amp;quality=95&amp;sign=7afe973786b44bd5d64257d87dea514d&amp;type=alb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808" y="-35281"/>
            <a:ext cx="1811192" cy="18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14247" cy="1775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Подзаголовок 2"/>
          <p:cNvSpPr txBox="1">
            <a:spLocks/>
          </p:cNvSpPr>
          <p:nvPr/>
        </p:nvSpPr>
        <p:spPr>
          <a:xfrm>
            <a:off x="-50802" y="5906278"/>
            <a:ext cx="9078688" cy="43947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Преподаватель: 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Доцент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каф. ВММБ, к.ф.-м.н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  Кузнецова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Юлия Сергеевна</a:t>
            </a: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-50801" y="6377805"/>
            <a:ext cx="9078688" cy="43947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Разработчик курса:  Доцент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каф. ВММБ,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к.т.н.  Каменских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Анна Александровна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73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35862" y="51955"/>
            <a:ext cx="60147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https://vk.com/vmmb_pnipu</a:t>
            </a:r>
            <a:endParaRPr lang="ru-RU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25834" t="17160" r="15108" b="5428"/>
          <a:stretch/>
        </p:blipFill>
        <p:spPr>
          <a:xfrm>
            <a:off x="755576" y="783055"/>
            <a:ext cx="7684169" cy="56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6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9685"/>
            <a:ext cx="91439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УИР -  развитие интеллектуальных способностей студентов через освоение алгоритма научного исследования и формирования опыта выполнения исследовательского проекта.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УИР: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мотивы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учебно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исследовательской деятельности;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алгоритму научного исследования;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Формировать опыт выполнения индивидуального проекта;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участие студентов  в различных формах представления исследовательских работ (выставки, конференции, семинары);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Организовать научное руководство исследовательской деятельностью студентов;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Научить студента самостоятельно работать с литературными источниками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272716" y="5186191"/>
            <a:ext cx="8871283" cy="818148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04800" y="2988423"/>
            <a:ext cx="8839199" cy="417094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04799" y="3405517"/>
            <a:ext cx="8839200" cy="1106906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73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411450"/>
            <a:ext cx="893545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Мощнейшая поддержка научно-исследовательской деятельности от Министерства науки и высшего образования РФ заключается в проведении конкурсов (в том числе студенческих), система грантов, федеральные программы.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Диаграмма 3"/>
          <p:cNvGraphicFramePr>
            <a:graphicFrameLocks/>
          </p:cNvGraphicFramePr>
          <p:nvPr>
            <p:extLst/>
          </p:nvPr>
        </p:nvGraphicFramePr>
        <p:xfrm>
          <a:off x="1066799" y="1245573"/>
          <a:ext cx="6801853" cy="414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-8130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0" i="0" dirty="0" smtClean="0">
                <a:solidFill>
                  <a:srgbClr val="0E2D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текущие затраты на научные исследования и разработки по Приволжск</a:t>
            </a:r>
            <a:r>
              <a:rPr lang="ru-RU" sz="2800" dirty="0" smtClean="0">
                <a:solidFill>
                  <a:srgbClr val="0E2D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ому</a:t>
            </a:r>
            <a:r>
              <a:rPr lang="ru-RU" sz="2800" b="0" i="0" dirty="0" smtClean="0">
                <a:solidFill>
                  <a:srgbClr val="0E2D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федеральному округу </a:t>
            </a:r>
            <a:r>
              <a:rPr lang="en-US" sz="28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https://rosstat.gov.ru/statistics/science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3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517" y="200903"/>
            <a:ext cx="8221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исследовательской деятельности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ятиугольник 8"/>
          <p:cNvSpPr/>
          <p:nvPr/>
        </p:nvSpPr>
        <p:spPr>
          <a:xfrm>
            <a:off x="160422" y="1251283"/>
            <a:ext cx="2791326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Формулирование проблемы, постановка цели, задачи, гипотезы</a:t>
            </a:r>
          </a:p>
        </p:txBody>
      </p:sp>
      <p:sp>
        <p:nvSpPr>
          <p:cNvPr id="10" name="Пятиугольник 9"/>
          <p:cNvSpPr/>
          <p:nvPr/>
        </p:nvSpPr>
        <p:spPr>
          <a:xfrm>
            <a:off x="3312695" y="1228067"/>
            <a:ext cx="2598821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информации по данной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тематике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ятиугольник 10"/>
          <p:cNvSpPr/>
          <p:nvPr/>
        </p:nvSpPr>
        <p:spPr>
          <a:xfrm>
            <a:off x="6272464" y="1251283"/>
            <a:ext cx="2598821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методов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ятиугольник 11"/>
          <p:cNvSpPr/>
          <p:nvPr/>
        </p:nvSpPr>
        <p:spPr>
          <a:xfrm>
            <a:off x="352926" y="3465090"/>
            <a:ext cx="2598821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Сбор, анализ,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обобщение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ятиугольник 12"/>
          <p:cNvSpPr/>
          <p:nvPr/>
        </p:nvSpPr>
        <p:spPr>
          <a:xfrm>
            <a:off x="3312695" y="3488306"/>
            <a:ext cx="2598821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выводов</a:t>
            </a:r>
          </a:p>
        </p:txBody>
      </p:sp>
      <p:sp>
        <p:nvSpPr>
          <p:cNvPr id="14" name="Пятиугольник 13"/>
          <p:cNvSpPr/>
          <p:nvPr/>
        </p:nvSpPr>
        <p:spPr>
          <a:xfrm>
            <a:off x="6272464" y="3488306"/>
            <a:ext cx="2871536" cy="17789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Обнародование результатов интеллектуальной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деятельности*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1" y="5811560"/>
            <a:ext cx="91440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статья, научный доклад, тезисы доклада, научные труды, патенты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5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8" name="Picture 16" descr="http://vestnik.pstu.ru/files/images/PNRPU_Aerospace_Engineering_Bullet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07"/>
            <a:ext cx="2621042" cy="361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http://vestnik.pstu.ru/files/images/Oblojk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417" y="927127"/>
            <a:ext cx="2641529" cy="361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555776" y="155351"/>
            <a:ext cx="67217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https://pstu.ru/activity/scientifical/magazines/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94" name="Picture 22" descr="Картинка на домашней странице журнал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891" y="1947459"/>
            <a:ext cx="2732004" cy="387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http://vestnik.pstu.ru/files/images/tl_cove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50" y="3176337"/>
            <a:ext cx="2604950" cy="368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80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 l="38091" t="14300" r="33560" b="30050"/>
          <a:stretch>
            <a:fillRect/>
          </a:stretch>
        </p:blipFill>
        <p:spPr bwMode="auto">
          <a:xfrm>
            <a:off x="0" y="260648"/>
            <a:ext cx="3456384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 l="13972" t="16400" r="15154" b="5901"/>
          <a:stretch>
            <a:fillRect/>
          </a:stretch>
        </p:blipFill>
        <p:spPr bwMode="auto">
          <a:xfrm>
            <a:off x="3347864" y="260648"/>
            <a:ext cx="5796136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 l="20469" t="24800" r="20469" b="13251"/>
          <a:stretch>
            <a:fillRect/>
          </a:stretch>
        </p:blipFill>
        <p:spPr bwMode="auto">
          <a:xfrm>
            <a:off x="539552" y="4077072"/>
            <a:ext cx="7992888" cy="278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0" y="0"/>
            <a:ext cx="9144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требований к оформлению документов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08720"/>
            <a:ext cx="7488535" cy="5306836"/>
          </a:xfrm>
          <a:prstGeom prst="rect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743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! Стандартные настройки основного текста в отчетных документах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Шрифт -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Times New Roman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 Размер шрифта 12-14 пт. Начертание обычное.</a:t>
            </a: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Стандартные настройки абзаца</a:t>
            </a: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- отступ красной строки 1,25 см, отступ слева и справа 0 см.; </a:t>
            </a: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- междустрочный интервал – одинарный или полуторный (1,5 строки), интервалы перед и после 0.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!!Стандартные настройки нумерованных и маркированных списков такие же как у основного текста при наличии 1 уровня у списка. 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!!! Во всех стилях используемых в документах шрифт -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Times New Roman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с настройками близкими к основному стилю документа.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!!!! При создании заголовков разного уровня для автоматического содержания, а так же для выделения ряда абзацев в тексте искусственного увеличения размера шрифта текста в отчетных документах делать не нужно.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!!!!! При необходимости переноса текста или объектов на новую страницу не используются пустые строки, используется разрыв страницы.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!!!!!! Для того чтобы оформить часть документа в другом виде (альбомная ориентация, 2 и более колонок, другие настройки полей документа и т.д.) используются разрывы разделов.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!!!!!!! При необходимости выравнивания текста по листу документа для организации оригинальных форм документа используются настройки стиля «Табуляция».</a:t>
            </a:r>
          </a:p>
          <a:p>
            <a:pPr algn="ctr">
              <a:lnSpc>
                <a:spcPct val="80000"/>
              </a:lnSpc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b="21319"/>
          <a:stretch>
            <a:fillRect/>
          </a:stretch>
        </p:blipFill>
        <p:spPr bwMode="auto">
          <a:xfrm>
            <a:off x="0" y="260648"/>
            <a:ext cx="748419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 l="35973" t="15988" r="37047" b="22967"/>
          <a:stretch>
            <a:fillRect/>
          </a:stretch>
        </p:blipFill>
        <p:spPr bwMode="auto">
          <a:xfrm>
            <a:off x="2451313" y="945016"/>
            <a:ext cx="2120687" cy="2628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 l="84846" t="15351" r="2160" b="24800"/>
          <a:stretch>
            <a:fillRect/>
          </a:stretch>
        </p:blipFill>
        <p:spPr bwMode="auto">
          <a:xfrm>
            <a:off x="7524328" y="332656"/>
            <a:ext cx="1584176" cy="4104456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 l="69581" t="22862" r="3932" b="62600"/>
          <a:stretch>
            <a:fillRect/>
          </a:stretch>
        </p:blipFill>
        <p:spPr bwMode="auto">
          <a:xfrm>
            <a:off x="4653609" y="980728"/>
            <a:ext cx="2798711" cy="864096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/>
          <a:srcRect l="31691" t="22700" r="21650" b="16401"/>
          <a:stretch>
            <a:fillRect/>
          </a:stretch>
        </p:blipFill>
        <p:spPr bwMode="auto">
          <a:xfrm>
            <a:off x="1475656" y="3717032"/>
            <a:ext cx="4248472" cy="3119131"/>
          </a:xfrm>
          <a:prstGeom prst="rect">
            <a:avLst/>
          </a:prstGeom>
          <a:noFill/>
          <a:ln w="25400">
            <a:solidFill>
              <a:srgbClr val="FFC000"/>
            </a:solidFill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/>
          <a:srcRect l="33163" t="59849" r="56205" b="19550"/>
          <a:stretch>
            <a:fillRect/>
          </a:stretch>
        </p:blipFill>
        <p:spPr bwMode="auto">
          <a:xfrm>
            <a:off x="0" y="5445224"/>
            <a:ext cx="1296144" cy="1412776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/>
          <a:srcRect l="45012" t="40348" r="32873" b="19994"/>
          <a:stretch>
            <a:fillRect/>
          </a:stretch>
        </p:blipFill>
        <p:spPr bwMode="auto">
          <a:xfrm>
            <a:off x="5796136" y="4489122"/>
            <a:ext cx="2304256" cy="2324254"/>
          </a:xfrm>
          <a:prstGeom prst="rect">
            <a:avLst/>
          </a:prstGeom>
          <a:noFill/>
          <a:ln w="254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0" y="0"/>
            <a:ext cx="9144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Работа со стилями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511712" y="6629539"/>
            <a:ext cx="468000" cy="16200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Скругленная соединительная линия 14"/>
          <p:cNvCxnSpPr/>
          <p:nvPr/>
        </p:nvCxnSpPr>
        <p:spPr>
          <a:xfrm rot="16200000" flipH="1">
            <a:off x="755576" y="5949280"/>
            <a:ext cx="1080120" cy="504056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3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07504" y="5805264"/>
            <a:ext cx="540000" cy="16200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07504" y="3645024"/>
            <a:ext cx="0" cy="2149200"/>
          </a:xfrm>
          <a:prstGeom prst="line">
            <a:avLst/>
          </a:prstGeom>
          <a:ln w="254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97384" y="3645024"/>
            <a:ext cx="5774400" cy="0"/>
          </a:xfrm>
          <a:prstGeom prst="line">
            <a:avLst/>
          </a:prstGeom>
          <a:ln w="254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868144" y="3645024"/>
            <a:ext cx="0" cy="828000"/>
          </a:xfrm>
          <a:prstGeom prst="line">
            <a:avLst/>
          </a:prstGeom>
          <a:ln w="25400">
            <a:solidFill>
              <a:schemeClr val="accent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Блок-схема: узел 22"/>
          <p:cNvSpPr/>
          <p:nvPr/>
        </p:nvSpPr>
        <p:spPr>
          <a:xfrm>
            <a:off x="2897824" y="818720"/>
            <a:ext cx="90000" cy="9000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узел 27"/>
          <p:cNvSpPr/>
          <p:nvPr/>
        </p:nvSpPr>
        <p:spPr>
          <a:xfrm>
            <a:off x="1961720" y="818720"/>
            <a:ext cx="90000" cy="900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107504" y="908720"/>
            <a:ext cx="2232248" cy="24482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179512" y="3645024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Изменять настройки шрифта и абзаца необходимо через стили документа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0152" y="3583867"/>
            <a:ext cx="1584176" cy="92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ru-RU" sz="1100" dirty="0" smtClean="0">
                <a:latin typeface="Times New Roman" pitchFamily="18" charset="0"/>
                <a:cs typeface="Times New Roman" pitchFamily="18" charset="0"/>
              </a:rPr>
              <a:t>Стиль с настройками табуляции часто используется для простоты работы со специальными объектами (рисунки, формулы и т.д.)</a:t>
            </a:r>
            <a:endParaRPr lang="ru-RU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00392" y="4437112"/>
            <a:ext cx="1043608" cy="246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ru-RU" sz="1000" dirty="0" smtClean="0">
                <a:latin typeface="Times New Roman" pitchFamily="18" charset="0"/>
                <a:cs typeface="Times New Roman" pitchFamily="18" charset="0"/>
              </a:rPr>
              <a:t>Часто в шаблонах документов уже есть специальные стили и только требуется разобраться в каком случае они применяются.</a:t>
            </a:r>
          </a:p>
          <a:p>
            <a:pPr algn="ctr">
              <a:lnSpc>
                <a:spcPct val="70000"/>
              </a:lnSpc>
            </a:pPr>
            <a:r>
              <a:rPr lang="ru-RU" sz="1000" dirty="0" smtClean="0">
                <a:latin typeface="Times New Roman" pitchFamily="18" charset="0"/>
                <a:cs typeface="Times New Roman" pitchFamily="18" charset="0"/>
              </a:rPr>
              <a:t>При оформлении отчетов и т.п. часто требуется создание специальных стилей, например при работе с формулами.</a:t>
            </a:r>
            <a:endParaRPr lang="ru-RU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Блок-схема: узел 32"/>
          <p:cNvSpPr/>
          <p:nvPr/>
        </p:nvSpPr>
        <p:spPr>
          <a:xfrm>
            <a:off x="6714248" y="818720"/>
            <a:ext cx="90000" cy="90000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6804248" y="476672"/>
            <a:ext cx="900000" cy="0"/>
          </a:xfrm>
          <a:prstGeom prst="line">
            <a:avLst/>
          </a:prstGeom>
          <a:ln w="25400">
            <a:solidFill>
              <a:srgbClr val="00B0F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кругленная соединительная линия 37"/>
          <p:cNvCxnSpPr/>
          <p:nvPr/>
        </p:nvCxnSpPr>
        <p:spPr>
          <a:xfrm rot="10800000" flipV="1">
            <a:off x="7236296" y="692696"/>
            <a:ext cx="1440160" cy="1080120"/>
          </a:xfrm>
          <a:prstGeom prst="curvedConnector3">
            <a:avLst>
              <a:gd name="adj1" fmla="val 19387"/>
            </a:avLst>
          </a:prstGeom>
          <a:ln w="25400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endCxn id="33" idx="6"/>
          </p:cNvCxnSpPr>
          <p:nvPr/>
        </p:nvCxnSpPr>
        <p:spPr>
          <a:xfrm>
            <a:off x="6804248" y="476672"/>
            <a:ext cx="0" cy="387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7524328" y="800720"/>
            <a:ext cx="720080" cy="1440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4644008" y="1931348"/>
            <a:ext cx="2736304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Изменение параметров шрифта и абзаца на главной странице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MS Word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приведет к тому, что при копировании и сбросе настроек текста возникнут ошибки форматирования, так как в стилях остались настройки стандартные для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MS Word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которые не являются стандартными для России. 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827584" y="476671"/>
            <a:ext cx="1197159" cy="3179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2051721" y="476672"/>
            <a:ext cx="936104" cy="3179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собственного стиля в документах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вариант создания уникального стиля в документах</a:t>
            </a:r>
          </a:p>
          <a:p>
            <a:pPr>
              <a:lnSpc>
                <a:spcPct val="8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Главная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Стили или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Alt+Ctrl+Shift+S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всплывет окно со стилями в котором можно вызвать создание нового стиля или изменение уже имеющего (изменение можно сделать и на главной вкладке).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 cstate="print"/>
          <a:srcRect l="84846" t="15351" r="2160" b="24800"/>
          <a:stretch>
            <a:fillRect/>
          </a:stretch>
        </p:blipFill>
        <p:spPr bwMode="auto">
          <a:xfrm>
            <a:off x="107504" y="908720"/>
            <a:ext cx="1584176" cy="410445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/>
          <a:srcRect l="85289" t="69092" r="13087" b="28256"/>
          <a:stretch>
            <a:fillRect/>
          </a:stretch>
        </p:blipFill>
        <p:spPr bwMode="auto">
          <a:xfrm>
            <a:off x="1835696" y="908720"/>
            <a:ext cx="792088" cy="66675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140593" y="4581128"/>
            <a:ext cx="235645" cy="2097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23528" y="4581128"/>
            <a:ext cx="1519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835696" y="1593128"/>
            <a:ext cx="0" cy="298800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627784" y="961564"/>
            <a:ext cx="942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Создание</a:t>
            </a:r>
          </a:p>
          <a:p>
            <a:pPr algn="ctr"/>
            <a:r>
              <a:rPr lang="ru-RU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стиля </a:t>
            </a:r>
            <a:endParaRPr lang="ru-RU" b="1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 cstate="print"/>
          <a:srcRect l="26563" t="19550" r="26472" b="21111"/>
          <a:stretch>
            <a:fillRect/>
          </a:stretch>
        </p:blipFill>
        <p:spPr bwMode="auto">
          <a:xfrm>
            <a:off x="3563888" y="908720"/>
            <a:ext cx="5472608" cy="4176464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</p:spPr>
      </p:pic>
      <p:sp>
        <p:nvSpPr>
          <p:cNvPr id="12" name="Прямоугольник 11"/>
          <p:cNvSpPr/>
          <p:nvPr/>
        </p:nvSpPr>
        <p:spPr>
          <a:xfrm>
            <a:off x="1835696" y="1646100"/>
            <a:ext cx="1728192" cy="3367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* Имя стиля должно быть понятным, т.е. должно быть понятно для чего стиль предназначен. </a:t>
            </a:r>
          </a:p>
          <a:p>
            <a:pPr algn="ctr">
              <a:lnSpc>
                <a:spcPct val="80000"/>
              </a:lnSpc>
            </a:pPr>
            <a:endParaRPr lang="ru-RU" sz="1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sz="1400" b="1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** Для того чтобы «не прихватить» какие-то не нужные настройки или дальнейшие изменения с других стилей в поле «Основан на стиле» нужно выбрать нет. </a:t>
            </a:r>
            <a:endParaRPr lang="ru-RU" sz="1400" b="1" i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763688" y="5211197"/>
            <a:ext cx="7416824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ru-RU" sz="1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*** Настройки стиля «Шрифт», «Абзац», «Табуляция» и т.д. настраиваются согласно требований или в зависимости от целей стиля.</a:t>
            </a:r>
          </a:p>
          <a:p>
            <a:pPr algn="just">
              <a:lnSpc>
                <a:spcPct val="80000"/>
              </a:lnSpc>
            </a:pPr>
            <a:endParaRPr lang="ru-RU" sz="10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sz="1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**** Для создания стиля списка (нумерованный или маркированный) с определенными настройками нумерации сначала требуется настроить «Нумерацию», а затем «Абзац». Иначе настройки абзаца изменяться после настройки нумерации.</a:t>
            </a:r>
          </a:p>
          <a:p>
            <a:pPr algn="just">
              <a:lnSpc>
                <a:spcPct val="80000"/>
              </a:lnSpc>
            </a:pPr>
            <a:endParaRPr lang="ru-RU" sz="1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sz="14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***** Для того чтобы созданный стиль или изменения в существующем стиле сохранились для других документов необходимо выбрать «В новых документах, использующих этот шаблон». </a:t>
            </a:r>
            <a:endParaRPr lang="ru-RU" sz="1400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5" cstate="print"/>
          <a:srcRect l="33163" t="59849" r="56205" b="19550"/>
          <a:stretch>
            <a:fillRect/>
          </a:stretch>
        </p:blipFill>
        <p:spPr bwMode="auto">
          <a:xfrm>
            <a:off x="107504" y="5086650"/>
            <a:ext cx="1584176" cy="1726726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15" name="Прямоугольник 14"/>
          <p:cNvSpPr/>
          <p:nvPr/>
        </p:nvSpPr>
        <p:spPr>
          <a:xfrm>
            <a:off x="3635896" y="4869160"/>
            <a:ext cx="574154" cy="1790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691680" y="5157192"/>
            <a:ext cx="1519200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203848" y="4930566"/>
            <a:ext cx="0" cy="234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201804" y="4941168"/>
            <a:ext cx="468000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96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собственного стиля в документах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вариант создания уникального стиля в документах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60648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 Настройки во вкладке «Шрифт» позволяют изменить регистр текста, межзнаковый интервал, а так же настроить шрифт документа с различными эффектами (тень, цвет, подчеркивание, цвет подчеркивания и т.д.).</a:t>
            </a:r>
          </a:p>
          <a:p>
            <a:pPr marL="6731000" algn="just">
              <a:lnSpc>
                <a:spcPct val="8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!! При работе с регистром документа может возникнуть ряд сложностей, регистр может не изменяться при выборе стилей и настроек.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Таким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образом требуется:</a:t>
            </a:r>
          </a:p>
          <a:p>
            <a:pPr marL="6731000">
              <a:lnSpc>
                <a:spcPct val="8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1. Очистить стиль документа;</a:t>
            </a:r>
          </a:p>
          <a:p>
            <a:pPr marL="6731000">
              <a:lnSpc>
                <a:spcPct val="8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2. Выбрать тип регистра текста все строчные;</a:t>
            </a:r>
          </a:p>
          <a:p>
            <a:pPr marL="6731000">
              <a:lnSpc>
                <a:spcPct val="8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3. Поменять регистр текста в требуемый формат.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 l="37579" t="20600" r="33273" b="22700"/>
          <a:stretch>
            <a:fillRect/>
          </a:stretch>
        </p:blipFill>
        <p:spPr bwMode="auto">
          <a:xfrm>
            <a:off x="82189" y="908721"/>
            <a:ext cx="3290104" cy="3600000"/>
          </a:xfrm>
          <a:prstGeom prst="rect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 l="37597" t="20481" r="33299" b="22337"/>
          <a:stretch>
            <a:fillRect/>
          </a:stretch>
        </p:blipFill>
        <p:spPr bwMode="auto">
          <a:xfrm>
            <a:off x="3474832" y="909120"/>
            <a:ext cx="3257408" cy="3600000"/>
          </a:xfrm>
          <a:prstGeom prst="rect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 l="11610" t="5901" r="73034" b="84649"/>
          <a:stretch>
            <a:fillRect/>
          </a:stretch>
        </p:blipFill>
        <p:spPr bwMode="auto">
          <a:xfrm>
            <a:off x="6804248" y="2924944"/>
            <a:ext cx="2288254" cy="7920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 l="20929" t="16210" r="55392" b="72621"/>
          <a:stretch>
            <a:fillRect/>
          </a:stretch>
        </p:blipFill>
        <p:spPr bwMode="auto">
          <a:xfrm>
            <a:off x="6804248" y="3810001"/>
            <a:ext cx="2304583" cy="6991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8188568" y="3273669"/>
            <a:ext cx="271863" cy="20808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8460432" y="3429000"/>
            <a:ext cx="0" cy="36004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5" cstate="print"/>
          <a:srcRect l="51814" t="36749" r="35331" b="32121"/>
          <a:stretch>
            <a:fillRect/>
          </a:stretch>
        </p:blipFill>
        <p:spPr bwMode="auto">
          <a:xfrm>
            <a:off x="7452320" y="4606528"/>
            <a:ext cx="1628180" cy="2200672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12" name="Прямоугольник 11"/>
          <p:cNvSpPr/>
          <p:nvPr/>
        </p:nvSpPr>
        <p:spPr>
          <a:xfrm>
            <a:off x="0" y="4820442"/>
            <a:ext cx="7380312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tabLst>
                <a:tab pos="5200650" algn="l"/>
              </a:tabLst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Настроить полностью стиль через настройки абзаца и шрифта (настройки табуляции и т.п. после такого создания стиля лучше проверить) и сохранить созданное форматирование текста как новый экспресс стиль. </a:t>
            </a:r>
          </a:p>
          <a:p>
            <a:pPr lvl="0">
              <a:lnSpc>
                <a:spcPct val="80000"/>
              </a:lnSpc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При нахождении в требуемом разделе, выделить требуемый фрагмент и  нажать правую кнопку мыши. Всплывет окно меню. </a:t>
            </a:r>
          </a:p>
          <a:p>
            <a:pPr lvl="0">
              <a:lnSpc>
                <a:spcPct val="80000"/>
              </a:lnSpc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Стили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Сохранить выделенный фрагмент как новый экспресс-стиль.</a:t>
            </a:r>
          </a:p>
          <a:p>
            <a:pPr lvl="0">
              <a:lnSpc>
                <a:spcPct val="80000"/>
              </a:lnSpc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Всплывет окно создание стиля, как на предыдущем слайде.</a:t>
            </a:r>
          </a:p>
          <a:p>
            <a:pPr lvl="0">
              <a:lnSpc>
                <a:spcPct val="80000"/>
              </a:lnSpc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Стиль так же называется понятным названием.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 cstate="print"/>
          <a:srcRect l="64890" t="65270" r="5698" b="26968"/>
          <a:stretch>
            <a:fillRect/>
          </a:stretch>
        </p:blipFill>
        <p:spPr bwMode="auto">
          <a:xfrm>
            <a:off x="3563888" y="6237312"/>
            <a:ext cx="3725292" cy="54880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6" name="Прямоугольник 15"/>
          <p:cNvSpPr/>
          <p:nvPr/>
        </p:nvSpPr>
        <p:spPr>
          <a:xfrm>
            <a:off x="7467600" y="6597352"/>
            <a:ext cx="1600200" cy="198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7308304" y="6669360"/>
            <a:ext cx="288032" cy="0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Работа с нумерованными и маркированными стилями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 cstate="print"/>
          <a:srcRect l="40358" t="24800" r="40178" b="26900"/>
          <a:stretch>
            <a:fillRect/>
          </a:stretch>
        </p:blipFill>
        <p:spPr bwMode="auto">
          <a:xfrm>
            <a:off x="1439635" y="692696"/>
            <a:ext cx="2063324" cy="2880000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/>
          <a:srcRect l="40179" t="24762" r="39107" b="26949"/>
          <a:stretch>
            <a:fillRect/>
          </a:stretch>
        </p:blipFill>
        <p:spPr bwMode="auto">
          <a:xfrm>
            <a:off x="3599875" y="692696"/>
            <a:ext cx="2196261" cy="2880000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4" cstate="print"/>
          <a:srcRect l="35825" t="24762" r="46027" b="34921"/>
          <a:stretch>
            <a:fillRect/>
          </a:stretch>
        </p:blipFill>
        <p:spPr bwMode="auto">
          <a:xfrm>
            <a:off x="7364669" y="652438"/>
            <a:ext cx="1728531" cy="216000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5" cstate="print"/>
          <a:srcRect l="32580" t="25850" r="32542" b="34250"/>
          <a:stretch>
            <a:fillRect/>
          </a:stretch>
        </p:blipFill>
        <p:spPr bwMode="auto">
          <a:xfrm>
            <a:off x="4860032" y="3717032"/>
            <a:ext cx="4207768" cy="2736304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6" cstate="print"/>
          <a:srcRect l="35437" t="34993" r="59719" b="60100"/>
          <a:stretch>
            <a:fillRect/>
          </a:stretch>
        </p:blipFill>
        <p:spPr bwMode="auto">
          <a:xfrm>
            <a:off x="5940152" y="2924944"/>
            <a:ext cx="1263537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7" cstate="print"/>
          <a:srcRect l="26696" t="18889" r="26607" b="21428"/>
          <a:stretch>
            <a:fillRect/>
          </a:stretch>
        </p:blipFill>
        <p:spPr bwMode="auto">
          <a:xfrm>
            <a:off x="251520" y="3645024"/>
            <a:ext cx="4392488" cy="3157889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8" cstate="print"/>
          <a:srcRect l="33163" t="59849" r="56205" b="19550"/>
          <a:stretch>
            <a:fillRect/>
          </a:stretch>
        </p:blipFill>
        <p:spPr bwMode="auto">
          <a:xfrm>
            <a:off x="35987" y="288032"/>
            <a:ext cx="1296144" cy="1412776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11" name="Прямоугольник 10"/>
          <p:cNvSpPr/>
          <p:nvPr/>
        </p:nvSpPr>
        <p:spPr>
          <a:xfrm>
            <a:off x="1331640" y="260648"/>
            <a:ext cx="7812360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tabLst>
                <a:tab pos="5200650" algn="l"/>
              </a:tabLst>
            </a:pPr>
            <a:r>
              <a:rPr lang="ru-RU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При создании стиля для нумерованных или маркированных списков настройка стиля начинается с вкладки формата «Нумерация».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07504" y="1339850"/>
            <a:ext cx="1152128" cy="1449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1043608" y="1412776"/>
            <a:ext cx="360040" cy="0"/>
          </a:xfrm>
          <a:prstGeom prst="straightConnector1">
            <a:avLst/>
          </a:prstGeom>
          <a:ln w="28575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868144" y="692696"/>
            <a:ext cx="1512168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 При создании стиля можно определить «новый формат номера» и «новый маркер».</a:t>
            </a:r>
          </a:p>
          <a:p>
            <a:pPr lvl="0" algn="ctr">
              <a:lnSpc>
                <a:spcPct val="80000"/>
              </a:lnSpc>
              <a:tabLst>
                <a:tab pos="5200650" algn="l"/>
              </a:tabLst>
            </a:pPr>
            <a:endParaRPr lang="ru-RU" sz="1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 В качестве маркера для списка  можно выбрать любой символ.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715524" y="3124810"/>
            <a:ext cx="1081266" cy="14493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788024" y="3212976"/>
            <a:ext cx="1080000" cy="0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5863936" y="682336"/>
            <a:ext cx="3464" cy="2544903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5868144" y="692696"/>
            <a:ext cx="1476000" cy="0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7452320" y="966355"/>
            <a:ext cx="486335" cy="1212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9033933" y="1176867"/>
            <a:ext cx="2563" cy="2540165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7938477" y="1008970"/>
            <a:ext cx="0" cy="180000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7924956" y="1186640"/>
            <a:ext cx="1116000" cy="0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6948264" y="2961760"/>
            <a:ext cx="201622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200" spc="-50" dirty="0" smtClean="0">
                <a:latin typeface="Times New Roman" pitchFamily="18" charset="0"/>
                <a:cs typeface="Times New Roman" pitchFamily="18" charset="0"/>
              </a:rPr>
              <a:t>В лабораторной работе символы для маркированного списка в основном находятся в 3 вкладках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5940152" y="2926080"/>
            <a:ext cx="3024336" cy="7189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4860032" y="6448341"/>
            <a:ext cx="4283968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!!! Требуемый символ в качестве маркера можно найти по </a:t>
            </a:r>
            <a:r>
              <a:rPr lang="en-US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Unicode</a:t>
            </a: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(Юникоду).</a:t>
            </a:r>
          </a:p>
        </p:txBody>
      </p:sp>
      <p:sp>
        <p:nvSpPr>
          <p:cNvPr id="34" name="Прямоугольник 33"/>
          <p:cNvSpPr/>
          <p:nvPr/>
        </p:nvSpPr>
        <p:spPr>
          <a:xfrm rot="16200000">
            <a:off x="-1522044" y="5081892"/>
            <a:ext cx="3282440" cy="2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Созданный маркированный список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0" y="1916832"/>
            <a:ext cx="14036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tabLst>
                <a:tab pos="5200650" algn="l"/>
              </a:tabLst>
            </a:pPr>
            <a:r>
              <a:rPr lang="ru-RU" sz="1200" b="1" i="1" spc="-50" dirty="0" smtClean="0">
                <a:latin typeface="Times New Roman" pitchFamily="18" charset="0"/>
                <a:cs typeface="Times New Roman" pitchFamily="18" charset="0"/>
              </a:rPr>
              <a:t>* Нумерованный или маркированный список создан с требуемыми настройками нумерации, если они отображаются в окне просмотра.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Работа с многоуровневыми списками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 l="27158" t="5895" r="59974" b="84605"/>
          <a:stretch>
            <a:fillRect/>
          </a:stretch>
        </p:blipFill>
        <p:spPr bwMode="auto">
          <a:xfrm>
            <a:off x="4932040" y="464868"/>
            <a:ext cx="1568917" cy="651541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31775" t="16214" r="53149" b="74165"/>
          <a:stretch>
            <a:fillRect/>
          </a:stretch>
        </p:blipFill>
        <p:spPr bwMode="auto">
          <a:xfrm>
            <a:off x="4932040" y="1184948"/>
            <a:ext cx="1584175" cy="65987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 l="31691" t="9258" r="47637" b="29000"/>
          <a:stretch>
            <a:fillRect/>
          </a:stretch>
        </p:blipFill>
        <p:spPr bwMode="auto">
          <a:xfrm>
            <a:off x="6588224" y="274864"/>
            <a:ext cx="2520280" cy="409024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 cstate="print"/>
          <a:srcRect l="35825" t="24742" r="19923" b="21924"/>
          <a:stretch>
            <a:fillRect/>
          </a:stretch>
        </p:blipFill>
        <p:spPr bwMode="auto">
          <a:xfrm>
            <a:off x="107504" y="1931640"/>
            <a:ext cx="6408712" cy="3657600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0" y="260648"/>
            <a:ext cx="4860032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spc="-5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При создании многоуровневого списка создается не стиль, а определяется новый многоуровневый список со своими настройка ми каждого уровня. 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endParaRPr lang="ru-RU" sz="500" b="1" i="1" spc="-5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spc="-5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 Уровень списка для каждого абзаца может быть назначен и изменен. 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spc="-5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 Можно создавать настройки многоуровневого списка и как отдельные списки, при этом надо быть очень аккуратными с нумерацией и маркерами.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860032" y="188640"/>
            <a:ext cx="1656184" cy="2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Главная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475514" y="519792"/>
            <a:ext cx="223156" cy="17290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/>
          <p:cNvCxnSpPr>
            <a:stCxn id="9" idx="3"/>
          </p:cNvCxnSpPr>
          <p:nvPr/>
        </p:nvCxnSpPr>
        <p:spPr>
          <a:xfrm flipV="1">
            <a:off x="5698670" y="260648"/>
            <a:ext cx="889554" cy="345596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6602730" y="3976177"/>
            <a:ext cx="2492778" cy="17290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Соединительная линия уступом 16"/>
          <p:cNvCxnSpPr/>
          <p:nvPr/>
        </p:nvCxnSpPr>
        <p:spPr>
          <a:xfrm rot="10800000">
            <a:off x="6228184" y="3832161"/>
            <a:ext cx="504056" cy="216024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588224" y="4365104"/>
            <a:ext cx="2555776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!!! Многоуровневый список нужно настроить, так что бы он достаточно хорошо «вписывался» в основной текст и не превращался в «тонкую полоску текста с права» на последнем уровне списка из-за </a:t>
            </a:r>
            <a:r>
              <a:rPr lang="ru-RU" sz="1400" b="1" i="1" spc="-8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автонастроек</a:t>
            </a: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отступов.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0" y="5589240"/>
            <a:ext cx="9144000" cy="129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spc="-5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«Нормальные» настройки для трехуровневого списка: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spc="-5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 уровень многоуровневого списка: положение маркера – выравнивание номера 1,25 см; отступ текста 0 см; символ после номера – пробел.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spc="-5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 уровень многоуровневого списка: положение маркера – выравнивание номера 2,5 см; отступ текста 0 см; символ после номера – пробел.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spc="-5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 уровень многоуровневого списка: положение маркера – выравнивание номера 3,75 см; отступ текста 0 см; символ после номера – пробел.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1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Автоматическое создание оглавления при помощи стилей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Автоматическое создание содержания возможно при наличии в тексте «Заголовков» разного уровня. При этом требуется настройка Заголовков 1, 2, 3 и т.д. уровня согласно с настройками основного текста. А так же настройки стилей «Оглавления».</a:t>
            </a:r>
          </a:p>
          <a:p>
            <a:pPr algn="ctr">
              <a:lnSpc>
                <a:spcPct val="80000"/>
              </a:lnSpc>
            </a:pP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ru-RU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Заголовок 1 (уровня)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связан с </a:t>
            </a:r>
            <a:r>
              <a:rPr lang="ru-RU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Оглавлением 1 (уровня)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ctr">
              <a:lnSpc>
                <a:spcPct val="80000"/>
              </a:lnSpc>
            </a:pPr>
            <a:r>
              <a:rPr lang="ru-RU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Заголовок 2 (уровня)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связан с </a:t>
            </a:r>
            <a:r>
              <a:rPr lang="ru-RU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Оглавлением 2 (уровня)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и т.д.</a:t>
            </a: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</a:pPr>
            <a:endParaRPr lang="ru-RU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! Заголовки 1, 2 и т.д. уровня настраиваются как «Обычный» стиль. Основное условие шрифт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Times New Roman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размер шрифта 12-14 пт., такой же как у основного текста. Остальные настройки могут варьироваться.</a:t>
            </a:r>
          </a:p>
          <a:p>
            <a:pPr algn="just">
              <a:lnSpc>
                <a:spcPct val="80000"/>
              </a:lnSpc>
            </a:pP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!! Если в стилях документа есть только Заголовок 1 (уровня), то как только в тексте появятся абзацы с настройками стиля Заголовок 1 (уровня), тогда в списке стилей появится стиль соответствующий следующему уровню заголовков.</a:t>
            </a:r>
          </a:p>
          <a:p>
            <a:pPr algn="just">
              <a:lnSpc>
                <a:spcPct val="80000"/>
              </a:lnSpc>
            </a:pP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!!! Если заголовки (а так же любые объекты) выровнены на листе по центру, тогда у данного стиля (объекта) не может быть отступа красной строки.</a:t>
            </a:r>
          </a:p>
          <a:p>
            <a:pPr algn="just">
              <a:lnSpc>
                <a:spcPct val="80000"/>
              </a:lnSpc>
            </a:pP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!!!! После того, как все заголовки настроены и назначены на требуемые названия разделов и подразделов или глав и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подглав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документа, тогда необходимо перейти на вкладку «Ссылки» и выбрать объект «Оглавление», в котором нужно будет настроить стили Оглавления  разного уровня.</a:t>
            </a:r>
          </a:p>
          <a:p>
            <a:pPr algn="just">
              <a:lnSpc>
                <a:spcPct val="80000"/>
              </a:lnSpc>
            </a:pP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!!!! Стили Оглавления настраиваются в таком же всплывающем окне как и обычные стили.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 l="39862" t="5556" r="9375" b="84603"/>
          <a:stretch>
            <a:fillRect/>
          </a:stretch>
        </p:blipFill>
        <p:spPr bwMode="auto">
          <a:xfrm>
            <a:off x="39215" y="1916832"/>
            <a:ext cx="9039471" cy="10081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1763688" y="2060848"/>
            <a:ext cx="79208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555776" y="2060848"/>
            <a:ext cx="79208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Автоматическое создание оглавления при помощи стилей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 b="71000"/>
          <a:stretch>
            <a:fillRect/>
          </a:stretch>
        </p:blipFill>
        <p:spPr bwMode="auto">
          <a:xfrm>
            <a:off x="0" y="260648"/>
            <a:ext cx="9144000" cy="198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 cstate="print"/>
          <a:srcRect l="13382" t="25850" r="52362" b="9051"/>
          <a:stretch>
            <a:fillRect/>
          </a:stretch>
        </p:blipFill>
        <p:spPr bwMode="auto">
          <a:xfrm>
            <a:off x="0" y="2276872"/>
            <a:ext cx="4176464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452320" y="1484784"/>
            <a:ext cx="1584176" cy="27607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 формировании отчетного документа достаточно настроить заголовки 1,2,3… уровня согласно требованиям или на основе «Обычного» стиля документа, назначить требуемые стили документа на заголовки и при автоматическом создании «Оглавления» выбрать формат оглавления.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4328" y="6165304"/>
            <a:ext cx="1619672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Форматирование каждого раздела оглавления можно настроить.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67744" y="1556792"/>
            <a:ext cx="1872208" cy="7201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Автоматически созданное оглавление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23528" y="1088800"/>
            <a:ext cx="0" cy="288000"/>
          </a:xfrm>
          <a:prstGeom prst="line">
            <a:avLst/>
          </a:prstGeom>
          <a:ln w="25400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12771" y="1371600"/>
            <a:ext cx="4320000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623956" y="1354668"/>
            <a:ext cx="0" cy="108000"/>
          </a:xfrm>
          <a:prstGeom prst="line">
            <a:avLst/>
          </a:prstGeom>
          <a:ln w="25400">
            <a:solidFill>
              <a:srgbClr val="FFC0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4" cstate="print"/>
          <a:srcRect l="388" t="13251" r="74215" b="33200"/>
          <a:stretch>
            <a:fillRect/>
          </a:stretch>
        </p:blipFill>
        <p:spPr bwMode="auto">
          <a:xfrm>
            <a:off x="4211960" y="1484784"/>
            <a:ext cx="3240360" cy="2592288"/>
          </a:xfrm>
          <a:prstGeom prst="rect">
            <a:avLst/>
          </a:prstGeom>
          <a:noFill/>
          <a:ln w="25400">
            <a:solidFill>
              <a:srgbClr val="FFC000"/>
            </a:solidFill>
            <a:miter lim="800000"/>
            <a:headEnd/>
            <a:tailEnd/>
          </a:ln>
        </p:spPr>
      </p:pic>
      <p:sp>
        <p:nvSpPr>
          <p:cNvPr id="14" name="Прямоугольник 13"/>
          <p:cNvSpPr/>
          <p:nvPr/>
        </p:nvSpPr>
        <p:spPr>
          <a:xfrm>
            <a:off x="4227094" y="3705726"/>
            <a:ext cx="3217367" cy="1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7158789" y="3818021"/>
            <a:ext cx="5499" cy="331059"/>
          </a:xfrm>
          <a:prstGeom prst="line">
            <a:avLst/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5" cstate="print"/>
          <a:srcRect l="32281" t="20431" r="32282" b="27985"/>
          <a:stretch>
            <a:fillRect/>
          </a:stretch>
        </p:blipFill>
        <p:spPr bwMode="auto">
          <a:xfrm>
            <a:off x="4211960" y="4149080"/>
            <a:ext cx="3230016" cy="264475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8" name="Прямоугольник 17"/>
          <p:cNvSpPr/>
          <p:nvPr/>
        </p:nvSpPr>
        <p:spPr>
          <a:xfrm>
            <a:off x="6876256" y="6381328"/>
            <a:ext cx="479049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6" cstate="print"/>
          <a:srcRect l="39299" t="25719" r="39520" b="32801"/>
          <a:stretch>
            <a:fillRect/>
          </a:stretch>
        </p:blipFill>
        <p:spPr bwMode="auto">
          <a:xfrm>
            <a:off x="7520829" y="4221089"/>
            <a:ext cx="1587675" cy="1944215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</p:pic>
      <p:cxnSp>
        <p:nvCxnSpPr>
          <p:cNvPr id="20" name="Скругленная соединительная линия 19"/>
          <p:cNvCxnSpPr/>
          <p:nvPr/>
        </p:nvCxnSpPr>
        <p:spPr>
          <a:xfrm rot="5400000" flipH="1" flipV="1">
            <a:off x="7272300" y="6057292"/>
            <a:ext cx="432048" cy="360040"/>
          </a:xfrm>
          <a:prstGeom prst="curvedConnector3">
            <a:avLst>
              <a:gd name="adj1" fmla="val 50000"/>
            </a:avLst>
          </a:prstGeom>
          <a:ln w="25400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 l="27018" t="35008" r="4340" b="41044"/>
          <a:stretch>
            <a:fillRect/>
          </a:stretch>
        </p:blipFill>
        <p:spPr bwMode="auto">
          <a:xfrm>
            <a:off x="104775" y="1484784"/>
            <a:ext cx="8859713" cy="1547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0" y="0"/>
            <a:ext cx="91440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специализированных стилей для оформления объектов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помощи табуляций и их настроек можно создавать определенные стили для создания оригинальных объектов: </a:t>
            </a:r>
          </a:p>
          <a:p>
            <a:pPr algn="just">
              <a:lnSpc>
                <a:spcPct val="80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стили со сносками для оформления формул и других объектов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стили для автоматизированного создания ведомостей согласования отчетов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(**)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оригинальные стили для оформления документации и т.д.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(***).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3" cstate="print"/>
          <a:srcRect l="34750" t="31671" r="12295" b="47402"/>
          <a:stretch>
            <a:fillRect/>
          </a:stretch>
        </p:blipFill>
        <p:spPr bwMode="auto">
          <a:xfrm>
            <a:off x="107504" y="3105144"/>
            <a:ext cx="8856984" cy="1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4" cstate="print"/>
          <a:srcRect l="25280" t="31911" r="11449" b="41977"/>
          <a:stretch>
            <a:fillRect/>
          </a:stretch>
        </p:blipFill>
        <p:spPr bwMode="auto">
          <a:xfrm>
            <a:off x="107504" y="4869160"/>
            <a:ext cx="8856984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323528" y="1484784"/>
            <a:ext cx="4411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ru-RU" sz="4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51520" y="3140968"/>
            <a:ext cx="69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**</a:t>
            </a:r>
            <a:endParaRPr lang="ru-RU" sz="40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79512" y="4941168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***</a:t>
            </a:r>
            <a:endParaRPr lang="ru-RU" sz="4000" dirty="0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6496" y="3068960"/>
            <a:ext cx="900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6496" y="4797152"/>
            <a:ext cx="900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0" y="1412776"/>
            <a:ext cx="900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8600" t="36350" r="12298" b="10101"/>
          <a:stretch>
            <a:fillRect/>
          </a:stretch>
        </p:blipFill>
        <p:spPr bwMode="auto">
          <a:xfrm>
            <a:off x="107504" y="404664"/>
            <a:ext cx="8928992" cy="2667989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3341" t="20600" r="8657" b="18501"/>
          <a:stretch>
            <a:fillRect/>
          </a:stretch>
        </p:blipFill>
        <p:spPr bwMode="auto">
          <a:xfrm>
            <a:off x="107505" y="3284984"/>
            <a:ext cx="8928992" cy="3501008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использования самостоятельно созданного стиля «Формула»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20963" t="24210" r="20566" b="7751"/>
          <a:stretch>
            <a:fillRect/>
          </a:stretch>
        </p:blipFill>
        <p:spPr bwMode="auto">
          <a:xfrm>
            <a:off x="35496" y="404664"/>
            <a:ext cx="439248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 l="22144" t="64845" r="64272" b="12475"/>
          <a:stretch>
            <a:fillRect/>
          </a:stretch>
        </p:blipFill>
        <p:spPr bwMode="auto">
          <a:xfrm>
            <a:off x="2699792" y="1628800"/>
            <a:ext cx="1656184" cy="172819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 l="42334" t="32045" r="29932" b="24774"/>
          <a:stretch>
            <a:fillRect/>
          </a:stretch>
        </p:blipFill>
        <p:spPr bwMode="auto">
          <a:xfrm>
            <a:off x="5076056" y="404664"/>
            <a:ext cx="3312368" cy="252027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49" name="Picture 5"/>
          <p:cNvPicPr>
            <a:picLocks noChangeArrowheads="1"/>
          </p:cNvPicPr>
          <p:nvPr/>
        </p:nvPicPr>
        <p:blipFill>
          <a:blip r:embed="rId5" cstate="print"/>
          <a:srcRect l="46456" t="34880" r="25194" b="42440"/>
          <a:stretch>
            <a:fillRect/>
          </a:stretch>
        </p:blipFill>
        <p:spPr bwMode="auto">
          <a:xfrm>
            <a:off x="4679744" y="2996952"/>
            <a:ext cx="2160000" cy="144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50" name="Picture 6"/>
          <p:cNvPicPr>
            <a:picLocks noChangeArrowheads="1"/>
          </p:cNvPicPr>
          <p:nvPr/>
        </p:nvPicPr>
        <p:blipFill>
          <a:blip r:embed="rId6" cstate="print"/>
          <a:srcRect l="46456" t="34880" r="25194" b="42440"/>
          <a:stretch>
            <a:fillRect/>
          </a:stretch>
        </p:blipFill>
        <p:spPr bwMode="auto">
          <a:xfrm>
            <a:off x="6911752" y="2996952"/>
            <a:ext cx="2160000" cy="144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2339752" y="-27384"/>
            <a:ext cx="4608512" cy="317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нового стиля «Формула»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 cstate="print"/>
          <a:srcRect l="24506" t="40550" r="18794" b="53150"/>
          <a:stretch>
            <a:fillRect/>
          </a:stretch>
        </p:blipFill>
        <p:spPr bwMode="auto">
          <a:xfrm>
            <a:off x="1043608" y="6237312"/>
            <a:ext cx="6912768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7" cstate="print"/>
          <a:srcRect l="24506" t="65099" r="18794" b="27950"/>
          <a:stretch>
            <a:fillRect/>
          </a:stretch>
        </p:blipFill>
        <p:spPr bwMode="auto">
          <a:xfrm>
            <a:off x="1043608" y="5517232"/>
            <a:ext cx="691276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 cstate="print"/>
          <a:srcRect l="24506" t="51449" r="18794" b="40151"/>
          <a:stretch>
            <a:fillRect/>
          </a:stretch>
        </p:blipFill>
        <p:spPr bwMode="auto">
          <a:xfrm>
            <a:off x="1043608" y="4941168"/>
            <a:ext cx="6912768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Прямоугольник 16"/>
          <p:cNvSpPr/>
          <p:nvPr/>
        </p:nvSpPr>
        <p:spPr>
          <a:xfrm>
            <a:off x="2771960" y="2060848"/>
            <a:ext cx="1440000" cy="25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07552" y="3969080"/>
            <a:ext cx="432000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4427984" y="188640"/>
            <a:ext cx="4608512" cy="242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Создание 2-х табуляций, для простоты выравнивания формул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260648"/>
            <a:ext cx="4608512" cy="242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Создание нового стиля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4651858"/>
            <a:ext cx="8964488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 правильное форматирование формул, выровненных по центру документа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5949280"/>
            <a:ext cx="9144000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Правильное форматирование формул, выровненных по центру документа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1115616" y="4509120"/>
            <a:ext cx="0" cy="234888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7884368" y="4509120"/>
            <a:ext cx="0" cy="234888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504" y="4581128"/>
            <a:ext cx="1015663" cy="227687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Левая граница рабочей зоны  документа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28384" y="4509120"/>
            <a:ext cx="1015663" cy="234888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Правая граница рабочей зоны документа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7624" y="6581001"/>
            <a:ext cx="4176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* Формулы созданы при помощи редактора формул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формул при помощи редактора формул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 b="81460"/>
          <a:stretch>
            <a:fillRect/>
          </a:stretch>
        </p:blipFill>
        <p:spPr bwMode="auto">
          <a:xfrm>
            <a:off x="0" y="332656"/>
            <a:ext cx="9144000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 l="29535" t="38442" r="61606" b="58287"/>
          <a:stretch>
            <a:fillRect/>
          </a:stretch>
        </p:blipFill>
        <p:spPr bwMode="auto">
          <a:xfrm>
            <a:off x="4499992" y="2420888"/>
            <a:ext cx="2808312" cy="64807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8063880" y="908720"/>
            <a:ext cx="1080120" cy="28803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8100392" y="908720"/>
            <a:ext cx="1043608" cy="28803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7236296" y="1412776"/>
            <a:ext cx="792088" cy="2880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 l="32184" t="27300" r="32379" b="34250"/>
          <a:stretch>
            <a:fillRect/>
          </a:stretch>
        </p:blipFill>
        <p:spPr bwMode="auto">
          <a:xfrm>
            <a:off x="35496" y="2060848"/>
            <a:ext cx="4320480" cy="2376264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</p:spPr>
      </p:pic>
      <p:sp>
        <p:nvSpPr>
          <p:cNvPr id="22" name="Прямоугольник 21"/>
          <p:cNvSpPr/>
          <p:nvPr/>
        </p:nvSpPr>
        <p:spPr>
          <a:xfrm>
            <a:off x="159192" y="2758440"/>
            <a:ext cx="864096" cy="2075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1023288" y="2852936"/>
            <a:ext cx="3476704" cy="0"/>
          </a:xfrm>
          <a:prstGeom prst="line">
            <a:avLst/>
          </a:prstGeom>
          <a:ln w="25400">
            <a:solidFill>
              <a:schemeClr val="tx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63480" y="1916832"/>
            <a:ext cx="2844824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Редакторы формул признанные во всем мире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 cstate="print"/>
          <a:srcRect l="6788" t="15350" r="58366" b="41600"/>
          <a:stretch>
            <a:fillRect/>
          </a:stretch>
        </p:blipFill>
        <p:spPr bwMode="auto">
          <a:xfrm>
            <a:off x="35496" y="4509121"/>
            <a:ext cx="4320000" cy="2291599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7" cstate="print"/>
          <a:srcRect l="39369" t="34250" r="32281" b="15351"/>
          <a:stretch>
            <a:fillRect/>
          </a:stretch>
        </p:blipFill>
        <p:spPr bwMode="auto">
          <a:xfrm>
            <a:off x="4499992" y="4437112"/>
            <a:ext cx="3456384" cy="2376264"/>
          </a:xfrm>
          <a:prstGeom prst="rect">
            <a:avLst/>
          </a:prstGeom>
          <a:noFill/>
          <a:ln w="25400">
            <a:solidFill>
              <a:srgbClr val="7030A0"/>
            </a:solidFill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 cstate="print"/>
          <a:srcRect l="42322" t="25850" r="23423" b="52100"/>
          <a:stretch>
            <a:fillRect/>
          </a:stretch>
        </p:blipFill>
        <p:spPr bwMode="auto">
          <a:xfrm>
            <a:off x="4499992" y="3140968"/>
            <a:ext cx="4176464" cy="1224136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</p:spPr>
      </p:pic>
      <p:sp>
        <p:nvSpPr>
          <p:cNvPr id="30" name="Прямоугольник 29"/>
          <p:cNvSpPr/>
          <p:nvPr/>
        </p:nvSpPr>
        <p:spPr>
          <a:xfrm>
            <a:off x="1572079" y="4720382"/>
            <a:ext cx="288000" cy="108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1941040" y="4729162"/>
            <a:ext cx="359247" cy="1039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956376" y="4437150"/>
            <a:ext cx="1187624" cy="244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Формулы настраиваются согласно требованиям или в рамках настроек текста, в которых используются. Размер «Обычного» индекса такой же как размер основного текста (аннотации, рисунка и т.п.).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7326343" y="2060848"/>
          <a:ext cx="1782161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9" imgW="1498600" imgH="800100" progId="Equation.DSMT4">
                  <p:embed/>
                </p:oleObj>
              </mc:Choice>
              <mc:Fallback>
                <p:oleObj name="Equation" r:id="rId9" imgW="1498600" imgH="8001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43" y="2060848"/>
                        <a:ext cx="1782161" cy="936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23728" y="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Параметры страницы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b="82405"/>
          <a:stretch>
            <a:fillRect/>
          </a:stretch>
        </p:blipFill>
        <p:spPr bwMode="auto">
          <a:xfrm>
            <a:off x="0" y="360040"/>
            <a:ext cx="9144000" cy="177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l="7182" t="15243" r="65980" b="36824"/>
          <a:stretch>
            <a:fillRect/>
          </a:stretch>
        </p:blipFill>
        <p:spPr bwMode="auto">
          <a:xfrm>
            <a:off x="107504" y="2636912"/>
            <a:ext cx="3096344" cy="345638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 l="10429" t="15035" r="80121" b="73625"/>
          <a:stretch>
            <a:fillRect/>
          </a:stretch>
        </p:blipFill>
        <p:spPr bwMode="auto">
          <a:xfrm>
            <a:off x="3563888" y="4797152"/>
            <a:ext cx="1512168" cy="936104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 l="19288" t="15035" r="68309" b="53780"/>
          <a:stretch>
            <a:fillRect/>
          </a:stretch>
        </p:blipFill>
        <p:spPr bwMode="auto">
          <a:xfrm>
            <a:off x="3563888" y="2348880"/>
            <a:ext cx="1512168" cy="2376264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13" name="Прямоугольник 12"/>
          <p:cNvSpPr/>
          <p:nvPr/>
        </p:nvSpPr>
        <p:spPr>
          <a:xfrm>
            <a:off x="683600" y="1052736"/>
            <a:ext cx="230800" cy="757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950976" y="1052736"/>
            <a:ext cx="505968" cy="7608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63688" y="1052736"/>
            <a:ext cx="366864" cy="75777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/>
          <p:cNvCxnSpPr>
            <a:stCxn id="13" idx="2"/>
          </p:cNvCxnSpPr>
          <p:nvPr/>
        </p:nvCxnSpPr>
        <p:spPr>
          <a:xfrm>
            <a:off x="799000" y="1810512"/>
            <a:ext cx="0" cy="826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043608" y="1810512"/>
            <a:ext cx="0" cy="64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1043608" y="2470036"/>
            <a:ext cx="223224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3272118" y="2469776"/>
            <a:ext cx="3738" cy="232737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3275856" y="4797152"/>
            <a:ext cx="28803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1979712" y="1808880"/>
            <a:ext cx="0" cy="54000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1979712" y="2348880"/>
            <a:ext cx="1584000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/>
          <a:srcRect l="20764" t="8500" r="57185" b="40550"/>
          <a:stretch>
            <a:fillRect/>
          </a:stretch>
        </p:blipFill>
        <p:spPr bwMode="auto">
          <a:xfrm>
            <a:off x="5292080" y="2348880"/>
            <a:ext cx="3672408" cy="3384376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</p:spPr>
      </p:pic>
      <p:sp>
        <p:nvSpPr>
          <p:cNvPr id="34" name="Прямоугольник 33"/>
          <p:cNvSpPr/>
          <p:nvPr/>
        </p:nvSpPr>
        <p:spPr>
          <a:xfrm>
            <a:off x="2162908" y="1052736"/>
            <a:ext cx="536884" cy="266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 стрелкой 35"/>
          <p:cNvCxnSpPr>
            <a:stCxn id="34" idx="3"/>
          </p:cNvCxnSpPr>
          <p:nvPr/>
        </p:nvCxnSpPr>
        <p:spPr>
          <a:xfrm>
            <a:off x="2699792" y="1185791"/>
            <a:ext cx="648072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3347864" y="1196752"/>
            <a:ext cx="0" cy="1008112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3347864" y="2204864"/>
            <a:ext cx="237626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5724128" y="2204864"/>
            <a:ext cx="0" cy="14401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0" y="6165304"/>
            <a:ext cx="3347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Поля документы настраиваются согласно требованиям к публикации (отчет, диплом, статья и т.п.)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47864" y="5733256"/>
            <a:ext cx="2016224" cy="1207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150" dirty="0" smtClean="0">
                <a:latin typeface="Times New Roman" pitchFamily="18" charset="0"/>
                <a:cs typeface="Times New Roman" pitchFamily="18" charset="0"/>
              </a:rPr>
              <a:t>Ориентация страницы и колонки настраиваются по необходимости. Например, объемную таблицу не возможно уместить при книжной ориентации страницы.</a:t>
            </a:r>
            <a:endParaRPr lang="ru-RU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292080" y="5716413"/>
            <a:ext cx="37444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Разрывы страницы используются для разделения глав (разделов и т.п.) текста друг от друга, текст новой главы начинается с начала нового листа.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Разрыв разделов позволяет сделать уникальные настройки для каждого раздела документа (ориентация, страницы, колонтитулы и т.д.)</a:t>
            </a:r>
          </a:p>
          <a:p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/>
          <a:srcRect l="2654" t="26900" r="65453" b="15351"/>
          <a:stretch>
            <a:fillRect/>
          </a:stretch>
        </p:blipFill>
        <p:spPr bwMode="auto">
          <a:xfrm>
            <a:off x="48588" y="404664"/>
            <a:ext cx="4523412" cy="468052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Работа с разделами документа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 cstate="print"/>
          <a:srcRect l="20963" t="21650" r="20566" b="8001"/>
          <a:stretch>
            <a:fillRect/>
          </a:stretch>
        </p:blipFill>
        <p:spPr bwMode="auto">
          <a:xfrm>
            <a:off x="4680520" y="404664"/>
            <a:ext cx="4427984" cy="4680520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0" y="5085184"/>
            <a:ext cx="46440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Создание разделов на текущей странице с  форматированием в виде нескольких колонок, для экономия места, создания оригинальных структур текста  или представления информации в определенном виде.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644008" y="5085184"/>
            <a:ext cx="44999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Создание разделов с форматированием в виде одной колонки  в документе оформленном в виде двух колонок (статья)  для включения в текст больших рисунков или таблиц.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6021288"/>
            <a:ext cx="9144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tabLst>
                <a:tab pos="5200650" algn="l"/>
              </a:tabLst>
            </a:pP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!  Для создания разделов особого форматирования на странице текста используется «Разрыв разделов» – «Текущая страница» .  Для того чтобы на участке страницы было сделано особое форматирование необходимо два разрыва разделов на текущей странице, если раздел рас положен  между текстом.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 l="5016" t="26250" r="4453" b="8056"/>
          <a:stretch>
            <a:fillRect/>
          </a:stretch>
        </p:blipFill>
        <p:spPr bwMode="auto">
          <a:xfrm>
            <a:off x="1" y="404664"/>
            <a:ext cx="914399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Работа с разделами документа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766662"/>
            <a:ext cx="9144000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tabLst>
                <a:tab pos="5200650" algn="l"/>
              </a:tabLst>
            </a:pPr>
            <a:r>
              <a:rPr lang="ru-RU" sz="1400" b="1" spc="-8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Часто при создании отчетной документации появляются данные (рисунки,  таблицы, схемы, чертежи и т.д.), которые становятся не читаемыми при их отображении в виде книжной ориентации страницы. Таким образом для корректного отображения материала можно  (нужно) ввести  </a:t>
            </a:r>
            <a:r>
              <a:rPr lang="ru-RU" sz="1400" b="1" spc="-8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сатраницу</a:t>
            </a:r>
            <a:r>
              <a:rPr lang="ru-RU" sz="1400" b="1" spc="-8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400" b="1" spc="-8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ы</a:t>
            </a:r>
            <a:r>
              <a:rPr lang="ru-RU" sz="1400" b="1" spc="-8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 документа с альбомной ориентацией.</a:t>
            </a:r>
          </a:p>
          <a:p>
            <a:pPr lvl="0" algn="just">
              <a:tabLst>
                <a:tab pos="5200650" algn="l"/>
              </a:tabLst>
            </a:pPr>
            <a:endParaRPr lang="ru-RU" sz="500" b="1" spc="-8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tabLst>
                <a:tab pos="5200650" algn="l"/>
              </a:tabLst>
            </a:pP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!! Для отображения части материала в виде альбомной ориентации листа документа необходимо использовать  «Разрыв раздела» – «Следующая страница».  А затем для требуемого раздела документа выбирается необходимое </a:t>
            </a:r>
            <a:r>
              <a:rPr lang="ru-RU" sz="1400" b="1" spc="-80" dirty="0" err="1" smtClean="0">
                <a:latin typeface="Times New Roman" pitchFamily="18" charset="0"/>
                <a:cs typeface="Times New Roman" pitchFamily="18" charset="0"/>
              </a:rPr>
              <a:t>форматировнаие</a:t>
            </a: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>
              <a:tabLst>
                <a:tab pos="5200650" algn="l"/>
              </a:tabLst>
            </a:pPr>
            <a:endParaRPr lang="ru-RU" sz="500" b="1" spc="-8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tabLst>
                <a:tab pos="5200650" algn="l"/>
              </a:tabLst>
            </a:pP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!!! Разрывы разделов позволяют сделать с использованием колонтитулов оригинальные названия разделов и глав документа (книги),  добавить комментарии автора и т.д.</a:t>
            </a:r>
          </a:p>
          <a:p>
            <a:pPr lvl="0" algn="just">
              <a:tabLst>
                <a:tab pos="5200650" algn="l"/>
              </a:tabLst>
            </a:pPr>
            <a:endParaRPr lang="ru-RU" sz="500" b="1" spc="-8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tabLst>
                <a:tab pos="5200650" algn="l"/>
              </a:tabLst>
            </a:pP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!!!! Колонтитулы так же используются для нумерации страниц.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таблиц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32656"/>
            <a:ext cx="9144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Заголовок таблицы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начинается со слова «Таблица» и ее номера по порядку (б/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– если таблица в документе одна; сквозная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нумерация 1,2,3…; нумерация по главам (разделам) 1.1,1.2,…,3.1,3.2…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заголовок размещается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правом верхнем углу таблицы (если не сказаны другие варианты настройки заголовков таблицы)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Названия таблиц не должны быть длиннее самих таблиц.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Таблица обязательно должна иметь название и ссылку на нее в тексте!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Для ссылки по тексту статьи на таблицу 1 можно использовать сокращение табл.1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81460"/>
          <a:stretch>
            <a:fillRect/>
          </a:stretch>
        </p:blipFill>
        <p:spPr bwMode="auto">
          <a:xfrm>
            <a:off x="36512" y="2471936"/>
            <a:ext cx="9144000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12694" t="14760" r="71359" b="48385"/>
          <a:stretch>
            <a:fillRect/>
          </a:stretch>
        </p:blipFill>
        <p:spPr bwMode="auto">
          <a:xfrm>
            <a:off x="0" y="4056112"/>
            <a:ext cx="1691680" cy="244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 b="82130"/>
          <a:stretch>
            <a:fillRect/>
          </a:stretch>
        </p:blipFill>
        <p:spPr bwMode="auto">
          <a:xfrm>
            <a:off x="1656184" y="4134544"/>
            <a:ext cx="7488832" cy="136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/>
          <a:srcRect b="82130"/>
          <a:stretch>
            <a:fillRect/>
          </a:stretch>
        </p:blipFill>
        <p:spPr bwMode="auto">
          <a:xfrm>
            <a:off x="1656184" y="5496272"/>
            <a:ext cx="7524328" cy="136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rrowheads="1"/>
          </p:cNvPicPr>
          <p:nvPr/>
        </p:nvPicPr>
        <p:blipFill>
          <a:blip r:embed="rId2" cstate="print"/>
          <a:srcRect l="7379" t="14301" r="6982" b="29000"/>
          <a:stretch>
            <a:fillRect/>
          </a:stretch>
        </p:blipFill>
        <p:spPr bwMode="auto">
          <a:xfrm>
            <a:off x="0" y="332656"/>
            <a:ext cx="9144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rrowheads="1"/>
          </p:cNvPicPr>
          <p:nvPr/>
        </p:nvPicPr>
        <p:blipFill>
          <a:blip r:embed="rId3" cstate="print"/>
          <a:srcRect l="15744" t="22700" r="15154" b="21650"/>
          <a:stretch>
            <a:fillRect/>
          </a:stretch>
        </p:blipFill>
        <p:spPr bwMode="auto">
          <a:xfrm>
            <a:off x="0" y="3573016"/>
            <a:ext cx="9144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оформления таблиц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332656"/>
            <a:ext cx="9144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Подпись к рисунку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начинается со слова «Рис.» и номера по 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порядку б/</a:t>
            </a:r>
            <a:r>
              <a:rPr lang="ru-RU" sz="2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– если рисунок в документе один; сквозная нумерация 1,2,3…; нумерация по главам (разделам) 1.1,1.2,…,3.1,3.2…),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подпись располагается снизу и не должна выходить за рамки рисунка (могут быть специальные настройки для рисунков в зависимости от их положения и состава (например,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рисунок содержит две диаграммы пронумерованные буквами а и б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)). 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Рисунок обязательно должен иметь название и ссылку на него в тексте! 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Для ссылки по тексту статьи на рисунок 1 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можно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использовать сокращение рис.1.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рисунков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6869" t="27186" r="21747" b="13363"/>
          <a:stretch>
            <a:fillRect/>
          </a:stretch>
        </p:blipFill>
        <p:spPr bwMode="auto">
          <a:xfrm>
            <a:off x="0" y="2952328"/>
            <a:ext cx="4978919" cy="386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3" cstate="print"/>
          <a:srcRect l="7379" t="35300" r="49506" b="12201"/>
          <a:stretch>
            <a:fillRect/>
          </a:stretch>
        </p:blipFill>
        <p:spPr bwMode="auto">
          <a:xfrm>
            <a:off x="5076056" y="3068960"/>
            <a:ext cx="396044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07504" y="2389413"/>
            <a:ext cx="475252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Если на элементы рисунка не требуется что-то добавлять, тогда можно его оформить при помощи таблицы, границы которой в последствии делают невидимыми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2040" y="2348880"/>
            <a:ext cx="421196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Если на элементы рисунка требуется добавлять специальные обозначения осей, подписи данный и т.п., тогда следует его оформить при помощи «Нового полотна» (Вставка/Фигуры/Новое полотно)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b="81460"/>
          <a:stretch>
            <a:fillRect/>
          </a:stretch>
        </p:blipFill>
        <p:spPr bwMode="auto">
          <a:xfrm>
            <a:off x="0" y="357166"/>
            <a:ext cx="9144000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рисунков при помощи рабочего полотна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 l="23916" t="14760" r="56594" b="23815"/>
          <a:stretch>
            <a:fillRect/>
          </a:stretch>
        </p:blipFill>
        <p:spPr bwMode="auto">
          <a:xfrm>
            <a:off x="0" y="2132856"/>
            <a:ext cx="2376264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/>
          <a:srcRect l="27557" t="21650" r="22831" b="27320"/>
          <a:stretch>
            <a:fillRect/>
          </a:stretch>
        </p:blipFill>
        <p:spPr bwMode="auto">
          <a:xfrm>
            <a:off x="2771800" y="2060848"/>
            <a:ext cx="6048672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2123728" y="1628800"/>
            <a:ext cx="216024" cy="648072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2123728" y="5589240"/>
            <a:ext cx="720080" cy="108012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6372200" y="1556792"/>
            <a:ext cx="792088" cy="396044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1115616" y="2492896"/>
            <a:ext cx="2520280" cy="1368152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 cstate="print"/>
          <a:srcRect l="61125" t="37440" r="21157" b="32320"/>
          <a:stretch>
            <a:fillRect/>
          </a:stretch>
        </p:blipFill>
        <p:spPr bwMode="auto">
          <a:xfrm>
            <a:off x="7668344" y="4581128"/>
            <a:ext cx="147565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 cstate="print"/>
          <a:srcRect l="13875" t="32150" r="13479" b="16401"/>
          <a:stretch>
            <a:fillRect/>
          </a:stretch>
        </p:blipFill>
        <p:spPr bwMode="auto">
          <a:xfrm>
            <a:off x="179512" y="332656"/>
            <a:ext cx="8856984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5"/>
          <p:cNvSpPr>
            <a:spLocks noChangeArrowheads="1"/>
          </p:cNvSpPr>
          <p:nvPr/>
        </p:nvSpPr>
        <p:spPr bwMode="auto">
          <a:xfrm>
            <a:off x="0" y="6273225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6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Рис. 2.1.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Общая схема контакта двух упругих тел:</a:t>
            </a:r>
          </a:p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 учетом (б, в) и без учета (а) прослойки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 l="5929" t="3834" r="2086" b="3307"/>
          <a:stretch>
            <a:fillRect/>
          </a:stretch>
        </p:blipFill>
        <p:spPr bwMode="auto">
          <a:xfrm>
            <a:off x="1115616" y="3902149"/>
            <a:ext cx="6912768" cy="240717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оформления рисунков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оформления рисунков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 cstate="print"/>
          <a:srcRect l="31100" t="50000" r="26966" b="21650"/>
          <a:stretch>
            <a:fillRect/>
          </a:stretch>
        </p:blipFill>
        <p:spPr bwMode="auto">
          <a:xfrm>
            <a:off x="107504" y="332656"/>
            <a:ext cx="5112568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5220072" y="404664"/>
            <a:ext cx="392392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Часто приходиться экономить объем страниц документа, а так же количество рисунков, тогда применяются сборки рисунков под одним номерном с  литерами </a:t>
            </a:r>
            <a:r>
              <a:rPr lang="en-US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а), (б) и т.д.</a:t>
            </a:r>
          </a:p>
          <a:p>
            <a:pPr lvl="0" algn="just">
              <a:tabLst>
                <a:tab pos="5200650" algn="l"/>
              </a:tabLst>
            </a:pPr>
            <a:endParaRPr lang="ru-RU" sz="500" b="1" i="1" spc="-8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Рисунки, схемы и т.п. собираются в «Новом полотне», таким образом это будет единый объект, который можно сгруппировать, а так же легко отредактировать под любой формат. 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 cstate="print"/>
          <a:srcRect l="43672" t="34583" r="18906" b="14306"/>
          <a:stretch>
            <a:fillRect/>
          </a:stretch>
        </p:blipFill>
        <p:spPr bwMode="auto">
          <a:xfrm>
            <a:off x="5652120" y="2335801"/>
            <a:ext cx="3384376" cy="2965407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</p:spPr>
      </p:pic>
      <p:sp>
        <p:nvSpPr>
          <p:cNvPr id="10" name="Прямоугольник 9"/>
          <p:cNvSpPr/>
          <p:nvPr/>
        </p:nvSpPr>
        <p:spPr>
          <a:xfrm>
            <a:off x="0" y="2332618"/>
            <a:ext cx="26997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tabLst>
                <a:tab pos="5200650" algn="l"/>
              </a:tabLst>
            </a:pPr>
            <a:r>
              <a:rPr lang="en-US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 </a:t>
            </a:r>
            <a:r>
              <a:rPr lang="ru-RU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Текст и формулы помещаются в  отдельные надписи, без заливки и линий границы (</a:t>
            </a:r>
            <a:r>
              <a:rPr lang="en-US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*).</a:t>
            </a:r>
          </a:p>
          <a:p>
            <a:pPr lvl="0" algn="just">
              <a:lnSpc>
                <a:spcPct val="90000"/>
              </a:lnSpc>
              <a:tabLst>
                <a:tab pos="5200650" algn="l"/>
              </a:tabLst>
            </a:pPr>
            <a:r>
              <a:rPr lang="en-US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!! </a:t>
            </a:r>
            <a:r>
              <a:rPr lang="ru-RU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Текст выравнивается по линиям сетки вертикальной оси при помощи междустрочного интервала.</a:t>
            </a:r>
          </a:p>
          <a:p>
            <a:pPr lvl="0" algn="just">
              <a:lnSpc>
                <a:spcPct val="90000"/>
              </a:lnSpc>
              <a:tabLst>
                <a:tab pos="5200650" algn="l"/>
              </a:tabLst>
            </a:pPr>
            <a:r>
              <a:rPr lang="ru-RU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!!! Текст выравнивается по линиям сетки горизонтальной оси при помощи пробелов.</a:t>
            </a:r>
          </a:p>
        </p:txBody>
      </p:sp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4" cstate="print"/>
          <a:srcRect l="29647" t="45528" r="46456" b="24966"/>
          <a:stretch>
            <a:fillRect/>
          </a:stretch>
        </p:blipFill>
        <p:spPr bwMode="auto">
          <a:xfrm>
            <a:off x="2666611" y="2348880"/>
            <a:ext cx="2913501" cy="2023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Прямоугольник 11"/>
          <p:cNvSpPr/>
          <p:nvPr/>
        </p:nvSpPr>
        <p:spPr>
          <a:xfrm>
            <a:off x="5652120" y="4221088"/>
            <a:ext cx="4411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ru-RU" sz="4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4365104"/>
            <a:ext cx="565212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tabLst>
                <a:tab pos="5200650" algn="l"/>
              </a:tabLst>
            </a:pPr>
            <a:r>
              <a:rPr lang="en-US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r>
              <a:rPr lang="ru-RU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!!!</a:t>
            </a:r>
            <a:r>
              <a:rPr lang="en-US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spc="-8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Можно настроить специальный стиль для надписей рисунка с отступом слева и справа по -0,2 см, что позволит максимально эффективно использовать надписи в рисунки и экономить рабочую зону. При этом остальные настройки шрифта могут варьироваться в зависимости от содержания текста в надписи.</a:t>
            </a:r>
            <a:endParaRPr lang="en-US" sz="1400" b="1" i="1" spc="-8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5426640"/>
            <a:ext cx="91440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spc="-80" dirty="0" smtClean="0">
                <a:latin typeface="Times New Roman" pitchFamily="18" charset="0"/>
                <a:cs typeface="Times New Roman" pitchFamily="18" charset="0"/>
              </a:rPr>
              <a:t>В отчетных документах часто происходит создание или доработка схем, используемых в постановке задачи, которая осуществляется с использованием «Нового полотна», «Надписей», «Формул»,  «Стандартных фигур», «Текста» и т.д.</a:t>
            </a: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endParaRPr lang="ru-RU" sz="500" b="1" spc="-8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! Вставка графического материала (диаграмм) в новое полотно без потери качества выполняется через </a:t>
            </a:r>
            <a:endParaRPr lang="en-US" sz="1400" b="1" spc="-80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Главная</a:t>
            </a:r>
            <a:r>
              <a:rPr lang="en-US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Вставить </a:t>
            </a:r>
            <a:r>
              <a:rPr lang="en-US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Специальная вставка </a:t>
            </a:r>
            <a:r>
              <a:rPr lang="en-US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&gt;  </a:t>
            </a: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Метафайл </a:t>
            </a:r>
            <a:r>
              <a:rPr lang="en-US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Windows (EMF) </a:t>
            </a:r>
            <a:r>
              <a:rPr lang="ru-RU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или Рисунок (метафайл </a:t>
            </a:r>
            <a:r>
              <a:rPr lang="en-US" sz="1400" b="1" spc="-8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Windows)</a:t>
            </a:r>
            <a:endParaRPr lang="ru-RU" sz="1400" b="1" spc="-80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endParaRPr lang="ru-RU" sz="500" b="1" spc="-8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80000"/>
              </a:lnSpc>
              <a:tabLst>
                <a:tab pos="5200650" algn="l"/>
              </a:tabLst>
            </a:pPr>
            <a:r>
              <a:rPr lang="ru-RU" sz="1400" b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!! Инструменты </a:t>
            </a:r>
            <a:r>
              <a:rPr lang="en-US" sz="1400" b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ru-RU" sz="1400" b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400" b="1" spc="-8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позволяют создать и оформить качественно любой графический материал, для которого требуется качественная визуализация при создании отчетной документации, а так же научных статей, тезисов и материалов конференции.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392518"/>
            <a:ext cx="9144000" cy="626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Библиографический список (Список литературы, 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References</a:t>
            </a: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оформляется отдельным разделом в конце документа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(отчет, диплом, статья и т.п.)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при этом литературные источники располагаются в порядке их использования по тексту в виде нумерованного списка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Нумерация: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 мере упоминания источников;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 алфавиту.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Ссылка на источник по тексту статьи оформляется как число в квадратных скобках [1], [2], [3]. Возможна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нумерация группы ссылок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[1-10], [3-5 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 др.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].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Один источник не оформляется в виде библиографического списка. В этом случае не нужно делать ссылку на источник.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Особенности формирования списка литературы:</a:t>
            </a:r>
            <a:endParaRPr lang="en-US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Источники в списке литературы считаются актуальными, если с момента их издания прошло не более 5 лет.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- Список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литературы может включать литературу, изданную более чем  5 лет назад, но количество ссылок на такие источники не должно быть много.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-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Список литературы должен включать отечественные и международные источники 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русскоязычных документах (отчет, диплом, статья и т.п.).</a:t>
            </a:r>
          </a:p>
          <a:p>
            <a:pPr algn="just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Список литературы должен включать в основном источники из международных баз цитирования в англоязычных документах (статья и т.п.).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Оформление списка литературы в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32656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Оформление ссылки на статью: 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№ по порядку. ФИО авторов через запятую Название статьи // Название журнала. – Год издания. – №, том. – страницы.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Пример ссылки на статью: </a:t>
            </a:r>
          </a:p>
          <a:p>
            <a:pPr algn="just"/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24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Тукашев</a:t>
            </a:r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Ж.Б., </a:t>
            </a:r>
            <a:r>
              <a:rPr lang="ru-RU" sz="24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Адилханова</a:t>
            </a:r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Л.А. Исследование напряженно-деформированного состояния дорожного покрытия // Геология, география и глобальная энергия. – 2010. – № 2. – C. 163-166.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Оформления ссылки на книгу: 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№ по порядку. ФИО авторов  книги через запятую Название книги. – Город издания: Издательство, Год издания. – Количество страниц.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Пример ссылки на книгу: </a:t>
            </a:r>
          </a:p>
          <a:p>
            <a:pPr algn="just"/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 Александров В.М., </a:t>
            </a:r>
            <a:r>
              <a:rPr lang="ru-RU" sz="24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Мхитарян</a:t>
            </a:r>
            <a:r>
              <a:rPr lang="ru-RU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С.М. Контактные задачи для тел с тонкими покрытиями и прослойками. – М.: Наука, 1983. – 488 с.</a:t>
            </a:r>
            <a:endParaRPr lang="ru-RU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-27384"/>
            <a:ext cx="9144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spc="-5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Одно из стандартное оформление ссылок на книги и статьи в России</a:t>
            </a:r>
            <a:endParaRPr lang="ru-RU" sz="2300" b="1" spc="-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 l="21553" t="21650" r="15841" b="37400"/>
          <a:stretch>
            <a:fillRect/>
          </a:stretch>
        </p:blipFill>
        <p:spPr bwMode="auto">
          <a:xfrm>
            <a:off x="323528" y="404664"/>
            <a:ext cx="792088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 l="21650" t="40550" r="15744" b="11151"/>
          <a:stretch>
            <a:fillRect/>
          </a:stretch>
        </p:blipFill>
        <p:spPr bwMode="auto">
          <a:xfrm>
            <a:off x="323528" y="3356992"/>
            <a:ext cx="7920880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 1 оформление списка литературы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 l="19191" t="22700" r="13188" b="40551"/>
          <a:stretch>
            <a:fillRect/>
          </a:stretch>
        </p:blipFill>
        <p:spPr bwMode="auto">
          <a:xfrm>
            <a:off x="0" y="260648"/>
            <a:ext cx="824440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/>
          <a:srcRect l="18697" t="30050" r="12500" b="12201"/>
          <a:stretch>
            <a:fillRect/>
          </a:stretch>
        </p:blipFill>
        <p:spPr bwMode="auto">
          <a:xfrm>
            <a:off x="0" y="2897560"/>
            <a:ext cx="8388424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 2 оформление списка литературы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2761</Words>
  <Application>Microsoft Office PowerPoint</Application>
  <PresentationFormat>Экран (4:3)</PresentationFormat>
  <Paragraphs>252</Paragraphs>
  <Slides>33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Тема Office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Аня</dc:creator>
  <cp:lastModifiedBy>Zverdvd.org</cp:lastModifiedBy>
  <cp:revision>91</cp:revision>
  <dcterms:created xsi:type="dcterms:W3CDTF">2013-11-11T05:59:20Z</dcterms:created>
  <dcterms:modified xsi:type="dcterms:W3CDTF">2022-09-12T20:18:38Z</dcterms:modified>
</cp:coreProperties>
</file>